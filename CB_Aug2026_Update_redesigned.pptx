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showing the MTD and YTD YoY performance for the whole portfolio and also the full year YOY forecast as well.  For the month, we saw a ~$75k revenue uptick compared to August of last year.  This is mostly due to volume which Ryan will touch on, on a later slide in more detail, but this increase vs the prior year has historically been as a result of our pricing actions, so this is a bit of a change in our revenue growth composition ($31.8k of the increase comes from an increase in our TPP alone).  Our expenses actually dropped compared to August of last year and this is mostly due to a drop in site maintenance line items across the board.</a:t>
            </a:r>
          </a:p>
          <a:p/>
          <a:p>
            <a:r>
              <a:t>For the YTD performance, our revenue is up around $676k and 33% of this is from the insurance and credit card fees alone.  The increase to the expenses YoY for this cohort is mostly due to property taxes where the consultants budgeted for large upticks in appraised values YoY.  We did get word back from Austin at hilltop that the lawsuit they filed for TXDFW03 got an additional $575k reduction to our appraised value (final 2026 value has a 12.73% reduction compared to the prior year, still waiting to hear back on TXDFW07).  Ryan also has open lawsuit for TXDFW01 and TXDFW02 we are still waiting to hear back on.</a:t>
            </a:r>
          </a:p>
          <a:p/>
          <a:p>
            <a:r>
              <a:t>For the full year forecast, we’re expecting to grow revenue 2.4% YoY.  NOI and Adjusted EBITDA are expected to grow on a gross basis, but the margin is expected to shrink some, but there is still room for growth as we are still protesting a bunch of our property taxes and we could expect our operating costs to come in lower than what is currently forecasted.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going into YoY performance on a same store basis, revenue up 2.1% monthly &amp; 2.2% on YTD basis across 58 assets. Operating costs down $2.6K for the month , lifting NOI margin 74 bps to 68.8%, but EBITDA margin gained only 10 bps and YTD is down 60 bps to 67%. </a:t>
            </a:r>
          </a:p>
          <a:p/>
          <a:p>
            <a:r>
              <a:t>Majority of the Revenue growth is concentrated in Texas, but the #1 site is FLNED01 ($17K). The other sites are DFW08, HOU17, GAL02, HOU09, DFW09 and AUS01. </a:t>
            </a:r>
          </a:p>
          <a:p>
            <a:r>
              <a:t>TXAUS01, TXDFW09 &amp; TXHOU09 grew on pricing with occupied units falling. TXGAL02 is a good lease up &amp; pricing story</a:t>
            </a:r>
          </a:p>
          <a:p/>
          <a:p>
            <a:r>
              <a:t>Other wins in the portfolio are waste services which are down $37.5K YTD and $4.6K for the month.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collection performance showing the yearly view up top and the monthly view on the bottom.  For August, we saw an increase in write-offs (~$8.8k) due to the teams efforts to either tow or auction a lot of deadbeat customers.  We saw a slight drop in the month for credits issued to tenants ($3k).  As the team continues to attack these overdue tenants we expect for this total revenue impact to decrease as the year goes on.  August was a large auction month with 17 as I mentioned on an earlier, but we were only able to recoup around 18% of the total outstanding balance ($8k).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30A17"/>
          </a:solidFill>
          <a:ln>
            <a:noFill/>
          </a:ln>
          <a:effectLst/>
        </p:spPr>
        <p:txBody>
          <a:bodyPr rtlCol="0" anchor="ctr"/>
          <a:lstStyle/>
          <a:p/>
        </p:txBody>
      </p:sp>
      <p:pic>
        <p:nvPicPr>
          <p:cNvPr id="3" name="Picture 2" descr="cover-hero.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30A17">
                  <a:alpha val="35000"/>
                </a:srgbClr>
              </a:gs>
              <a:gs pos="45000">
                <a:srgbClr val="030A17">
                  <a:alpha val="10000"/>
                </a:srgbClr>
              </a:gs>
              <a:gs pos="100000">
                <a:srgbClr val="030A17">
                  <a:alpha val="80000"/>
                </a:srgbClr>
              </a:gs>
            </a:gsLst>
            <a:lin ang="5400000" scaled="0"/>
          </a:gradFill>
          <a:ln>
            <a:noFill/>
          </a:ln>
          <a:effectLst/>
        </p:spPr>
        <p:txBody>
          <a:bodyPr rtlCol="0" anchor="ctr"/>
          <a:lstStyle/>
          <a:p/>
        </p:txBody>
      </p:sp>
      <p:pic>
        <p:nvPicPr>
          <p:cNvPr id="5" name="Picture 4" descr="logo-white.png"/>
          <p:cNvPicPr>
            <a:picLocks noChangeAspect="1"/>
          </p:cNvPicPr>
          <p:nvPr/>
        </p:nvPicPr>
        <p:blipFill>
          <a:blip r:embed="rId3"/>
          <a:stretch>
            <a:fillRect/>
          </a:stretch>
        </p:blipFill>
        <p:spPr>
          <a:xfrm>
            <a:off x="771525" y="619125"/>
            <a:ext cx="1123950" cy="577850"/>
          </a:xfrm>
          <a:prstGeom prst="rect">
            <a:avLst/>
          </a:prstGeom>
        </p:spPr>
      </p:pic>
      <p:sp>
        <p:nvSpPr>
          <p:cNvPr id="6" name="TextBox 5"/>
          <p:cNvSpPr txBox="1"/>
          <p:nvPr/>
        </p:nvSpPr>
        <p:spPr>
          <a:xfrm>
            <a:off x="609600" y="5657850"/>
            <a:ext cx="8534400" cy="590550"/>
          </a:xfrm>
          <a:prstGeom prst="rect">
            <a:avLst/>
          </a:prstGeom>
          <a:noFill/>
        </p:spPr>
        <p:txBody>
          <a:bodyPr wrap="square" lIns="0" rIns="0" tIns="0" bIns="0" anchor="t">
            <a:spAutoFit/>
          </a:bodyPr>
          <a:lstStyle/>
          <a:p>
            <a:pPr algn="l">
              <a:lnSpc>
                <a:spcPts val="4650"/>
              </a:lnSpc>
            </a:pPr>
            <a:r>
              <a:rPr sz="4200" b="0" spc="-126">
                <a:solidFill>
                  <a:srgbClr val="FFFFFF"/>
                </a:solidFill>
                <a:latin typeface="Plus Jakarta Sans ExtraBold"/>
                <a:cs typeface="Plus Jakarta Sans ExtraBold"/>
              </a:rPr>
              <a:t>August 2026 Financial Update</a:t>
            </a:r>
            <a:endParaRPr sz="4200"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300" y="381000"/>
            <a:ext cx="7620000" cy="152400"/>
          </a:xfrm>
          <a:prstGeom prst="rect">
            <a:avLst/>
          </a:prstGeom>
          <a:noFill/>
        </p:spPr>
        <p:txBody>
          <a:bodyPr wrap="square" lIns="0" rIns="0" tIns="0" bIns="0" anchor="t">
            <a:spAutoFit/>
          </a:bodyPr>
          <a:lstStyle/>
          <a:p>
            <a:pPr algn="l"/>
            <a:r>
              <a:rPr sz="900" b="1">
                <a:solidFill>
                  <a:srgbClr val="1767FF"/>
                </a:solidFill>
                <a:latin typeface="Plus Jakarta Sans"/>
                <a:cs typeface="Plus Jakarta Sans"/>
              </a:rPr>
              <a:t>Monthly performance</a:t>
            </a:r>
            <a:endParaRPr sz="900" lang="en-US"/>
          </a:p>
        </p:txBody>
      </p:sp>
      <p:sp>
        <p:nvSpPr>
          <p:cNvPr id="3" name="TextBox 2"/>
          <p:cNvSpPr txBox="1"/>
          <p:nvPr/>
        </p:nvSpPr>
        <p:spPr>
          <a:xfrm>
            <a:off x="495300" y="552450"/>
            <a:ext cx="9963150" cy="361950"/>
          </a:xfrm>
          <a:prstGeom prst="rect">
            <a:avLst/>
          </a:prstGeom>
          <a:noFill/>
        </p:spPr>
        <p:txBody>
          <a:bodyPr wrap="square" lIns="0" rIns="0" tIns="0" bIns="0" anchor="t">
            <a:spAutoFit/>
          </a:bodyPr>
          <a:lstStyle/>
          <a:p>
            <a:pPr algn="l"/>
            <a:r>
              <a:rPr sz="2250" b="0" spc="-45">
                <a:solidFill>
                  <a:srgbClr val="030A17"/>
                </a:solidFill>
                <a:latin typeface="Plus Jakarta Sans ExtraBold"/>
                <a:cs typeface="Plus Jakarta Sans ExtraBold"/>
              </a:rPr>
              <a:t>August 2026 Performance Snapshot</a:t>
            </a:r>
            <a:endParaRPr sz="2250" lang="en-US"/>
          </a:p>
        </p:txBody>
      </p:sp>
      <p:sp>
        <p:nvSpPr>
          <p:cNvPr id="4" name="TextBox 3"/>
          <p:cNvSpPr txBox="1"/>
          <p:nvPr/>
        </p:nvSpPr>
        <p:spPr>
          <a:xfrm>
            <a:off x="495300" y="933450"/>
            <a:ext cx="9963150" cy="180975"/>
          </a:xfrm>
          <a:prstGeom prst="rect">
            <a:avLst/>
          </a:prstGeom>
          <a:noFill/>
        </p:spPr>
        <p:txBody>
          <a:bodyPr wrap="square" lIns="0" rIns="0" tIns="0" bIns="0" anchor="t">
            <a:spAutoFit/>
          </a:bodyPr>
          <a:lstStyle/>
          <a:p>
            <a:pPr algn="l"/>
            <a:r>
              <a:rPr sz="975" b="0" spc="-19">
                <a:solidFill>
                  <a:srgbClr val="555555"/>
                </a:solidFill>
                <a:latin typeface="Plus Jakarta Sans Medium"/>
                <a:cs typeface="Plus Jakarta Sans Medium"/>
              </a:rPr>
              <a:t>Actual vs. prior month and plan · whole portfolio · as reported</a:t>
            </a:r>
            <a:endParaRPr sz="975" lang="en-US"/>
          </a:p>
        </p:txBody>
      </p:sp>
      <p:pic>
        <p:nvPicPr>
          <p:cNvPr id="5" name="Picture 4" descr="logo-colour.png"/>
          <p:cNvPicPr>
            <a:picLocks noChangeAspect="1"/>
          </p:cNvPicPr>
          <p:nvPr/>
        </p:nvPicPr>
        <p:blipFill>
          <a:blip r:embed="rId2"/>
          <a:stretch>
            <a:fillRect/>
          </a:stretch>
        </p:blipFill>
        <p:spPr>
          <a:xfrm>
            <a:off x="10810875" y="485775"/>
            <a:ext cx="781050" cy="401557"/>
          </a:xfrm>
          <a:prstGeom prst="rect">
            <a:avLst/>
          </a:prstGeom>
        </p:spPr>
      </p:pic>
      <p:sp>
        <p:nvSpPr>
          <p:cNvPr id="6" name="Rounded Rectangle 5"/>
          <p:cNvSpPr/>
          <p:nvPr/>
        </p:nvSpPr>
        <p:spPr>
          <a:xfrm>
            <a:off x="495300" y="1476375"/>
            <a:ext cx="11201400" cy="3781425"/>
          </a:xfrm>
          <a:prstGeom prst="roundRect">
            <a:avLst>
              <a:gd name="adj" fmla="val 2015"/>
            </a:avLst>
          </a:prstGeom>
          <a:solidFill>
            <a:srgbClr val="FFFFFF"/>
          </a:solidFill>
          <a:ln w="9525">
            <a:solidFill>
              <a:srgbClr val="E9E9E9"/>
            </a:solidFill>
          </a:ln>
          <a:effectLst>
            <a:outerShdw blurRad="95250" dist="28575" dir="5400000" algn="t" rotWithShape="0">
              <a:srgbClr val="001A4A">
                <a:alpha val="4000"/>
              </a:srgbClr>
            </a:outerShdw>
          </a:effectLst>
        </p:spPr>
        <p:txBody>
          <a:bodyPr rtlCol="0" anchor="ctr"/>
          <a:lstStyle/>
          <a:p/>
        </p:txBody>
      </p:sp>
      <p:graphicFrame>
        <p:nvGraphicFramePr>
          <p:cNvPr id="7" name="Table 6"/>
          <p:cNvGraphicFramePr>
            <a:graphicFrameLocks noGrp="1"/>
          </p:cNvGraphicFramePr>
          <p:nvPr/>
        </p:nvGraphicFramePr>
        <p:xfrm>
          <a:off x="504825" y="1485900"/>
          <a:ext cx="11182350" cy="3762375"/>
        </p:xfrm>
        <a:graphic>
          <a:graphicData uri="http://schemas.openxmlformats.org/drawingml/2006/table">
            <a:tbl>
              <a:tblPr firstRow="0" bandRow="0" firstCol="0" lastRow="0" lastCol="0" bandCol="0">
                <a:tableStyleId>{5940675A-B579-460E-94D1-54222C63F5DA}</a:tableStyleId>
              </a:tblPr>
              <a:tblGrid>
                <a:gridCol w="1956239"/>
                <a:gridCol w="846614"/>
                <a:gridCol w="816364"/>
                <a:gridCol w="94129"/>
                <a:gridCol w="832810"/>
                <a:gridCol w="94129"/>
                <a:gridCol w="648077"/>
                <a:gridCol w="736481"/>
                <a:gridCol w="94129"/>
                <a:gridCol w="811825"/>
                <a:gridCol w="716315"/>
                <a:gridCol w="94129"/>
                <a:gridCol w="875896"/>
                <a:gridCol w="887169"/>
                <a:gridCol w="94129"/>
                <a:gridCol w="821462"/>
                <a:gridCol w="762451"/>
              </a:tblGrid>
              <a:tr h="247650">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95250" marR="9525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Actual</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a:lnSpc>
                          <a:spcPts val="944"/>
                        </a:lnSpc>
                      </a:pPr>
                      <a:r>
                        <a:rPr sz="787" b="0">
                          <a:solidFill>
                            <a:srgbClr val="1767FF"/>
                          </a:solidFill>
                          <a:latin typeface="Plus Jakarta Sans ExtraBold"/>
                          <a:cs typeface="Plus Jakarta Sans ExtraBold"/>
                        </a:rPr>
                        <a:t>Plan</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Aug-26 vs. Jul-26</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Aug-26 vs. Plan</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YTD Aug-26</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YTD vs. Plan</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r>
              <a:tr h="228600">
                <a:tc>
                  <a:txBody>
                    <a:bodyPr/>
                    <a:lstStyle/>
                    <a:p>
                      <a:pPr algn="l">
                        <a:lnSpc>
                          <a:spcPts val="944"/>
                        </a:lnSpc>
                      </a:pPr>
                      <a:r>
                        <a:rPr sz="787" b="1">
                          <a:solidFill>
                            <a:srgbClr val="6B7178"/>
                          </a:solidFill>
                          <a:latin typeface="Plus Jakarta Sans"/>
                          <a:cs typeface="Plus Jakarta Sans"/>
                        </a:rPr>
                        <a:t> </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Jul-26</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Aug-26</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944"/>
                        </a:lnSpc>
                      </a:pPr>
                      <a:r>
                        <a:rPr sz="787" b="1">
                          <a:solidFill>
                            <a:srgbClr val="6B7178"/>
                          </a:solidFill>
                          <a:latin typeface="Plus Jakarta Sans"/>
                          <a:cs typeface="Plus Jakarta Sans"/>
                        </a:rPr>
                        <a:t> </a:t>
                      </a:r>
                      <a:endParaRPr sz="78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Aug-26</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944"/>
                        </a:lnSpc>
                      </a:pPr>
                      <a:r>
                        <a:rPr sz="787" b="1">
                          <a:solidFill>
                            <a:srgbClr val="6B7178"/>
                          </a:solidFill>
                          <a:latin typeface="Plus Jakarta Sans"/>
                          <a:cs typeface="Plus Jakarta Sans"/>
                        </a:rPr>
                        <a:t> </a:t>
                      </a:r>
                      <a:endParaRPr sz="78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944"/>
                        </a:lnSpc>
                      </a:pPr>
                      <a:r>
                        <a:rPr sz="787" b="1">
                          <a:solidFill>
                            <a:srgbClr val="6B7178"/>
                          </a:solidFill>
                          <a:latin typeface="Plus Jakarta Sans"/>
                          <a:cs typeface="Plus Jakarta Sans"/>
                        </a:rPr>
                        <a:t> </a:t>
                      </a:r>
                      <a:endParaRPr sz="78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944"/>
                        </a:lnSpc>
                      </a:pPr>
                      <a:r>
                        <a:rPr sz="787" b="1">
                          <a:solidFill>
                            <a:srgbClr val="6B7178"/>
                          </a:solidFill>
                          <a:latin typeface="Plus Jakarta Sans"/>
                          <a:cs typeface="Plus Jakarta Sans"/>
                        </a:rPr>
                        <a:t> </a:t>
                      </a:r>
                      <a:endParaRPr sz="78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Actual</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Plan</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944"/>
                        </a:lnSpc>
                      </a:pPr>
                      <a:r>
                        <a:rPr sz="787" b="1">
                          <a:solidFill>
                            <a:srgbClr val="6B7178"/>
                          </a:solidFill>
                          <a:latin typeface="Plus Jakarta Sans"/>
                          <a:cs typeface="Plus Jakarta Sans"/>
                        </a:rPr>
                        <a:t> </a:t>
                      </a:r>
                      <a:endParaRPr sz="78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944"/>
                        </a:lnSpc>
                      </a:pPr>
                      <a:r>
                        <a:rPr sz="787" b="1">
                          <a:solidFill>
                            <a:srgbClr val="6B7178"/>
                          </a:solidFill>
                          <a:latin typeface="Plus Jakarta Sans"/>
                          <a:cs typeface="Plus Jakarta Sans"/>
                        </a:rPr>
                        <a:t>%</a:t>
                      </a:r>
                      <a:endParaRPr sz="787"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r>
              <a:tr h="219075">
                <a:tc>
                  <a:txBody>
                    <a:bodyPr/>
                    <a:lstStyle/>
                    <a:p>
                      <a:pPr algn="l">
                        <a:lnSpc>
                          <a:spcPts val="1125"/>
                        </a:lnSpc>
                      </a:pPr>
                      <a:r>
                        <a:rPr sz="937" b="0">
                          <a:solidFill>
                            <a:srgbClr val="030A17"/>
                          </a:solidFill>
                          <a:latin typeface="Plus Jakarta Sans ExtraBold"/>
                          <a:cs typeface="Plus Jakarta Sans ExtraBold"/>
                        </a:rPr>
                        <a:t>Revenues</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2,096,909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1125"/>
                        </a:lnSpc>
                      </a:pPr>
                      <a:r>
                        <a:rPr sz="937" b="0">
                          <a:solidFill>
                            <a:srgbClr val="030A17"/>
                          </a:solidFill>
                          <a:latin typeface="Plus Jakarta Sans ExtraBold"/>
                          <a:cs typeface="Plus Jakarta Sans ExtraBold"/>
                        </a:rPr>
                        <a:t>2,102,565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2,215,671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5,656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1E7A2A"/>
                          </a:solidFill>
                          <a:latin typeface="Plus Jakarta Sans ExtraBold"/>
                          <a:cs typeface="Plus Jakarta Sans ExtraBold"/>
                        </a:rPr>
                        <a:t>0.3%</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C1291C"/>
                          </a:solidFill>
                          <a:latin typeface="Plus Jakarta Sans ExtraBold"/>
                          <a:cs typeface="Plus Jakarta Sans ExtraBold"/>
                        </a:rPr>
                        <a:t>(113,106)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990"/>
                        </a:lnSpc>
                      </a:pPr>
                      <a:r>
                        <a:rPr sz="825" b="0">
                          <a:solidFill>
                            <a:srgbClr val="A32318"/>
                          </a:solidFill>
                          <a:latin typeface="Plus Jakarta Sans ExtraBold"/>
                          <a:cs typeface="Plus Jakarta Sans ExtraBold"/>
                        </a:rPr>
                        <a:t>−5.1%</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16,829,353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1125"/>
                        </a:lnSpc>
                      </a:pPr>
                      <a:r>
                        <a:rPr sz="937" b="0">
                          <a:solidFill>
                            <a:srgbClr val="030A17"/>
                          </a:solidFill>
                          <a:latin typeface="Plus Jakarta Sans ExtraBold"/>
                          <a:cs typeface="Plus Jakarta Sans ExtraBold"/>
                        </a:rPr>
                        <a:t>17,085,155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C1291C"/>
                          </a:solidFill>
                          <a:latin typeface="Plus Jakarta Sans ExtraBold"/>
                          <a:cs typeface="Plus Jakarta Sans ExtraBold"/>
                        </a:rPr>
                        <a:t>(255,802)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A32318"/>
                          </a:solidFill>
                          <a:latin typeface="Plus Jakarta Sans ExtraBold"/>
                          <a:cs typeface="Plus Jakarta Sans ExtraBold"/>
                        </a:rPr>
                        <a:t>−1.5%</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219075">
                <a:tc>
                  <a:txBody>
                    <a:bodyPr/>
                    <a:lstStyle/>
                    <a:p>
                      <a:pPr algn="l">
                        <a:lnSpc>
                          <a:spcPts val="1125"/>
                        </a:lnSpc>
                      </a:pPr>
                      <a:r>
                        <a:rPr sz="937" b="0">
                          <a:solidFill>
                            <a:srgbClr val="555555"/>
                          </a:solidFill>
                          <a:latin typeface="Plus Jakarta Sans SemiBold"/>
                          <a:cs typeface="Plus Jakarta Sans SemiBold"/>
                        </a:rPr>
                        <a:t>Management Fee</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112,014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111,571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118,376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443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0.4%</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6,805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5.7%</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894,155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906,589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12,434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1.4%</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Property Taxes</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286,040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264,894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267,738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21,146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7.4%</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2,844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1.1%</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2,108,328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2,119,363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11,035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0.5%</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Franchise Taxes</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8,916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8,897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9,729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0.2%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832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8.6%</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72,632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74,328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1,696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2.3%</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Site maintenance</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131,323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139,422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140,387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C1291C"/>
                          </a:solidFill>
                          <a:latin typeface="Plus Jakarta Sans Medium"/>
                          <a:cs typeface="Plus Jakarta Sans Medium"/>
                        </a:rPr>
                        <a:t>(8,099)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A32318"/>
                          </a:solidFill>
                          <a:latin typeface="Plus Jakarta Sans"/>
                          <a:cs typeface="Plus Jakarta Sans"/>
                        </a:rPr>
                        <a:t>−6.2%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965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0.7%</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1,100,265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1,119,570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19,305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1.7%</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Insurance</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56,752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55,679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59,321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1,073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1.9%</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3,642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6.1%</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450,221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479,165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28,944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6.0%</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Utilities</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43,424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45,238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42,366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C1291C"/>
                          </a:solidFill>
                          <a:latin typeface="Plus Jakarta Sans Medium"/>
                          <a:cs typeface="Plus Jakarta Sans Medium"/>
                        </a:rPr>
                        <a:t>(1,814)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A32318"/>
                          </a:solidFill>
                          <a:latin typeface="Plus Jakarta Sans"/>
                          <a:cs typeface="Plus Jakarta Sans"/>
                        </a:rPr>
                        <a:t>−4.2%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C1291C"/>
                          </a:solidFill>
                          <a:latin typeface="Plus Jakarta Sans Medium"/>
                          <a:cs typeface="Plus Jakarta Sans Medium"/>
                        </a:rPr>
                        <a:t>(2,872)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A32318"/>
                          </a:solidFill>
                          <a:latin typeface="Plus Jakarta Sans"/>
                          <a:cs typeface="Plus Jakarta Sans"/>
                        </a:rPr>
                        <a:t>−6.8%</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322,061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341,102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19,041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5.6%</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Bank &amp; CC Fees</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51,800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51,568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58,059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232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0.4%</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6,491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11.2%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446,458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464,585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18,127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3.9%</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555555"/>
                          </a:solidFill>
                          <a:latin typeface="Plus Jakarta Sans SemiBold"/>
                          <a:cs typeface="Plus Jakarta Sans SemiBold"/>
                        </a:rPr>
                        <a:t>Security, Access, Other</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27,947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31,132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32,995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C1291C"/>
                          </a:solidFill>
                          <a:latin typeface="Plus Jakarta Sans Medium"/>
                          <a:cs typeface="Plus Jakarta Sans Medium"/>
                        </a:rPr>
                        <a:t>(3,185)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A32318"/>
                          </a:solidFill>
                          <a:latin typeface="Plus Jakarta Sans"/>
                          <a:cs typeface="Plus Jakarta Sans"/>
                        </a:rPr>
                        <a:t>−11.4%</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1,863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1E7A2A"/>
                          </a:solidFill>
                          <a:latin typeface="Plus Jakarta Sans"/>
                          <a:cs typeface="Plus Jakarta Sans"/>
                        </a:rPr>
                        <a:t>5.6%</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247,420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262,556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15,136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5.8%</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030A17"/>
                          </a:solidFill>
                          <a:latin typeface="Plus Jakarta Sans ExtraBold"/>
                          <a:cs typeface="Plus Jakarta Sans ExtraBold"/>
                        </a:rPr>
                        <a:t>Operating Costs</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718,216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1125"/>
                        </a:lnSpc>
                      </a:pPr>
                      <a:r>
                        <a:rPr sz="937" b="0">
                          <a:solidFill>
                            <a:srgbClr val="030A17"/>
                          </a:solidFill>
                          <a:latin typeface="Plus Jakarta Sans ExtraBold"/>
                          <a:cs typeface="Plus Jakarta Sans ExtraBold"/>
                        </a:rPr>
                        <a:t>708,401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728,971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9,815</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1E7A2A"/>
                          </a:solidFill>
                          <a:latin typeface="Plus Jakarta Sans ExtraBold"/>
                          <a:cs typeface="Plus Jakarta Sans ExtraBold"/>
                        </a:rPr>
                        <a:t>1.4%</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20,570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990"/>
                        </a:lnSpc>
                      </a:pPr>
                      <a:r>
                        <a:rPr sz="825" b="0">
                          <a:solidFill>
                            <a:srgbClr val="1E7A2A"/>
                          </a:solidFill>
                          <a:latin typeface="Plus Jakarta Sans ExtraBold"/>
                          <a:cs typeface="Plus Jakarta Sans ExtraBold"/>
                        </a:rPr>
                        <a:t>2.8%</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5,641,540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1125"/>
                        </a:lnSpc>
                      </a:pPr>
                      <a:r>
                        <a:rPr sz="937" b="0">
                          <a:solidFill>
                            <a:srgbClr val="030A17"/>
                          </a:solidFill>
                          <a:latin typeface="Plus Jakarta Sans ExtraBold"/>
                          <a:cs typeface="Plus Jakarta Sans ExtraBold"/>
                        </a:rPr>
                        <a:t>5,767,258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125,718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1E7A2A"/>
                          </a:solidFill>
                          <a:latin typeface="Plus Jakarta Sans ExtraBold"/>
                          <a:cs typeface="Plus Jakarta Sans ExtraBold"/>
                        </a:rPr>
                        <a:t>2.2%</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219075">
                <a:tc>
                  <a:txBody>
                    <a:bodyPr/>
                    <a:lstStyle/>
                    <a:p>
                      <a:pPr algn="l">
                        <a:lnSpc>
                          <a:spcPts val="1125"/>
                        </a:lnSpc>
                      </a:pPr>
                      <a:r>
                        <a:rPr sz="937" b="0">
                          <a:solidFill>
                            <a:srgbClr val="030A17"/>
                          </a:solidFill>
                          <a:latin typeface="Plus Jakarta Sans ExtraBold"/>
                          <a:cs typeface="Plus Jakarta Sans ExtraBold"/>
                        </a:rPr>
                        <a:t>Net Operating Income</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1,378,693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1125"/>
                        </a:lnSpc>
                      </a:pPr>
                      <a:r>
                        <a:rPr sz="937" b="0">
                          <a:solidFill>
                            <a:srgbClr val="030A17"/>
                          </a:solidFill>
                          <a:latin typeface="Plus Jakarta Sans ExtraBold"/>
                          <a:cs typeface="Plus Jakarta Sans ExtraBold"/>
                        </a:rPr>
                        <a:t>1,394,164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1,486,700</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15,471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1E7A2A"/>
                          </a:solidFill>
                          <a:latin typeface="Plus Jakarta Sans ExtraBold"/>
                          <a:cs typeface="Plus Jakarta Sans ExtraBold"/>
                        </a:rPr>
                        <a:t>1.1%</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C1291C"/>
                          </a:solidFill>
                          <a:latin typeface="Plus Jakarta Sans ExtraBold"/>
                          <a:cs typeface="Plus Jakarta Sans ExtraBold"/>
                        </a:rPr>
                        <a:t>(92,536)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990"/>
                        </a:lnSpc>
                      </a:pPr>
                      <a:r>
                        <a:rPr sz="825" b="0">
                          <a:solidFill>
                            <a:srgbClr val="A32318"/>
                          </a:solidFill>
                          <a:latin typeface="Plus Jakarta Sans ExtraBold"/>
                          <a:cs typeface="Plus Jakarta Sans ExtraBold"/>
                        </a:rPr>
                        <a:t>−6.2%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11,187,813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1125"/>
                        </a:lnSpc>
                      </a:pPr>
                      <a:r>
                        <a:rPr sz="937" b="0">
                          <a:solidFill>
                            <a:srgbClr val="030A17"/>
                          </a:solidFill>
                          <a:latin typeface="Plus Jakarta Sans ExtraBold"/>
                          <a:cs typeface="Plus Jakarta Sans ExtraBold"/>
                        </a:rPr>
                        <a:t>11,317,897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C1291C"/>
                          </a:solidFill>
                          <a:latin typeface="Plus Jakarta Sans ExtraBold"/>
                          <a:cs typeface="Plus Jakarta Sans ExtraBold"/>
                        </a:rPr>
                        <a:t>(130,084)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A32318"/>
                          </a:solidFill>
                          <a:latin typeface="Plus Jakarta Sans ExtraBold"/>
                          <a:cs typeface="Plus Jakarta Sans ExtraBold"/>
                        </a:rPr>
                        <a:t>−1.1%</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219075">
                <a:tc>
                  <a:txBody>
                    <a:bodyPr/>
                    <a:lstStyle/>
                    <a:p>
                      <a:pPr algn="l">
                        <a:lnSpc>
                          <a:spcPts val="990"/>
                        </a:lnSpc>
                      </a:pPr>
                      <a:r>
                        <a:rPr sz="825" b="0">
                          <a:solidFill>
                            <a:srgbClr val="999999"/>
                          </a:solidFill>
                          <a:latin typeface="Plus Jakarta Sans Medium"/>
                          <a:cs typeface="Plus Jakarta Sans Medium"/>
                        </a:rPr>
                        <a:t>% of Revenue</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90"/>
                        </a:lnSpc>
                      </a:pPr>
                      <a:r>
                        <a:rPr sz="825" b="0">
                          <a:solidFill>
                            <a:srgbClr val="999999"/>
                          </a:solidFill>
                          <a:latin typeface="Plus Jakarta Sans Medium"/>
                          <a:cs typeface="Plus Jakarta Sans Medium"/>
                        </a:rPr>
                        <a:t>65.7%</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66.3%</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67.1%</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0.6%</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(0.8)%</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66.5%</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66.2%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0.2%</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7F9FC"/>
                    </a:solidFill>
                  </a:tcPr>
                </a:tc>
              </a:tr>
              <a:tr h="219075">
                <a:tc>
                  <a:txBody>
                    <a:bodyPr/>
                    <a:lstStyle/>
                    <a:p>
                      <a:pPr algn="l">
                        <a:lnSpc>
                          <a:spcPts val="1125"/>
                        </a:lnSpc>
                      </a:pPr>
                      <a:r>
                        <a:rPr sz="937" b="0">
                          <a:solidFill>
                            <a:srgbClr val="555555"/>
                          </a:solidFill>
                          <a:latin typeface="Plus Jakarta Sans SemiBold"/>
                          <a:cs typeface="Plus Jakarta Sans SemiBold"/>
                        </a:rPr>
                        <a:t>SG&amp;A</a:t>
                      </a:r>
                      <a:endParaRPr sz="937" lang="en-US"/>
                    </a:p>
                  </a:txBody>
                  <a:tcPr marL="38100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1125"/>
                        </a:lnSpc>
                      </a:pPr>
                      <a:r>
                        <a:rPr sz="937" b="0">
                          <a:solidFill>
                            <a:srgbClr val="030A17"/>
                          </a:solidFill>
                          <a:latin typeface="Plus Jakarta Sans Medium"/>
                          <a:cs typeface="Plus Jakarta Sans Medium"/>
                        </a:rPr>
                        <a:t>56,607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1125"/>
                        </a:lnSpc>
                      </a:pPr>
                      <a:r>
                        <a:rPr sz="937" b="0">
                          <a:solidFill>
                            <a:srgbClr val="030A17"/>
                          </a:solidFill>
                          <a:latin typeface="Plus Jakarta Sans Medium"/>
                          <a:cs typeface="Plus Jakarta Sans Medium"/>
                        </a:rPr>
                        <a:t>55,096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47,049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1,511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1E7A2A"/>
                          </a:solidFill>
                          <a:latin typeface="Plus Jakarta Sans"/>
                          <a:cs typeface="Plus Jakarta Sans"/>
                        </a:rPr>
                        <a:t>2.7%</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C1291C"/>
                          </a:solidFill>
                          <a:latin typeface="Plus Jakarta Sans Medium"/>
                          <a:cs typeface="Plus Jakarta Sans Medium"/>
                        </a:rPr>
                        <a:t>(8,047)</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1">
                          <a:solidFill>
                            <a:srgbClr val="A32318"/>
                          </a:solidFill>
                          <a:latin typeface="Plus Jakarta Sans"/>
                          <a:cs typeface="Plus Jakarta Sans"/>
                        </a:rPr>
                        <a:t>−17.1%</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030A17"/>
                          </a:solidFill>
                          <a:latin typeface="Plus Jakarta Sans Medium"/>
                          <a:cs typeface="Plus Jakarta Sans Medium"/>
                        </a:rPr>
                        <a:t>426,282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1125"/>
                        </a:lnSpc>
                      </a:pPr>
                      <a:r>
                        <a:rPr sz="937" b="0">
                          <a:solidFill>
                            <a:srgbClr val="030A17"/>
                          </a:solidFill>
                          <a:latin typeface="Plus Jakarta Sans Medium"/>
                          <a:cs typeface="Plus Jakarta Sans Medium"/>
                        </a:rPr>
                        <a:t>380,473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1125"/>
                        </a:lnSpc>
                      </a:pPr>
                      <a:r>
                        <a:rPr sz="937" b="0">
                          <a:solidFill>
                            <a:srgbClr val="C1291C"/>
                          </a:solidFill>
                          <a:latin typeface="Plus Jakarta Sans Medium"/>
                          <a:cs typeface="Plus Jakarta Sans Medium"/>
                        </a:rPr>
                        <a:t>(45,809)</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1">
                          <a:solidFill>
                            <a:srgbClr val="A32318"/>
                          </a:solidFill>
                          <a:latin typeface="Plus Jakarta Sans"/>
                          <a:cs typeface="Plus Jakarta Sans"/>
                        </a:rPr>
                        <a:t>−12.0%</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219075">
                <a:tc>
                  <a:txBody>
                    <a:bodyPr/>
                    <a:lstStyle/>
                    <a:p>
                      <a:pPr algn="l">
                        <a:lnSpc>
                          <a:spcPts val="1125"/>
                        </a:lnSpc>
                      </a:pPr>
                      <a:r>
                        <a:rPr sz="937" b="0">
                          <a:solidFill>
                            <a:srgbClr val="030A17"/>
                          </a:solidFill>
                          <a:latin typeface="Plus Jakarta Sans ExtraBold"/>
                          <a:cs typeface="Plus Jakarta Sans ExtraBold"/>
                        </a:rPr>
                        <a:t>Adjusted EBITDA</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1,322,086</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1125"/>
                        </a:lnSpc>
                      </a:pPr>
                      <a:r>
                        <a:rPr sz="937" b="0">
                          <a:solidFill>
                            <a:srgbClr val="030A17"/>
                          </a:solidFill>
                          <a:latin typeface="Plus Jakarta Sans ExtraBold"/>
                          <a:cs typeface="Plus Jakarta Sans ExtraBold"/>
                        </a:rPr>
                        <a:t>1,339,068</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1,439,651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16,982</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1E7A2A"/>
                          </a:solidFill>
                          <a:latin typeface="Plus Jakarta Sans ExtraBold"/>
                          <a:cs typeface="Plus Jakarta Sans ExtraBold"/>
                        </a:rPr>
                        <a:t>1.3%</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C1291C"/>
                          </a:solidFill>
                          <a:latin typeface="Plus Jakarta Sans ExtraBold"/>
                          <a:cs typeface="Plus Jakarta Sans ExtraBold"/>
                        </a:rPr>
                        <a:t>(100,583)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990"/>
                        </a:lnSpc>
                      </a:pPr>
                      <a:r>
                        <a:rPr sz="825" b="0">
                          <a:solidFill>
                            <a:srgbClr val="A32318"/>
                          </a:solidFill>
                          <a:latin typeface="Plus Jakarta Sans ExtraBold"/>
                          <a:cs typeface="Plus Jakarta Sans ExtraBold"/>
                        </a:rPr>
                        <a:t>−7.0%</a:t>
                      </a:r>
                      <a:endParaRPr sz="825"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030A17"/>
                          </a:solidFill>
                          <a:latin typeface="Plus Jakarta Sans ExtraBold"/>
                          <a:cs typeface="Plus Jakarta Sans ExtraBold"/>
                        </a:rPr>
                        <a:t>10,761,531</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1125"/>
                        </a:lnSpc>
                      </a:pPr>
                      <a:r>
                        <a:rPr sz="937" b="0">
                          <a:solidFill>
                            <a:srgbClr val="030A17"/>
                          </a:solidFill>
                          <a:latin typeface="Plus Jakarta Sans ExtraBold"/>
                          <a:cs typeface="Plus Jakarta Sans ExtraBold"/>
                        </a:rPr>
                        <a:t>10,937,424</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1125"/>
                        </a:lnSpc>
                      </a:pPr>
                      <a:r>
                        <a:rPr sz="937" b="0">
                          <a:solidFill>
                            <a:srgbClr val="C1291C"/>
                          </a:solidFill>
                          <a:latin typeface="Plus Jakarta Sans ExtraBold"/>
                          <a:cs typeface="Plus Jakarta Sans ExtraBold"/>
                        </a:rPr>
                        <a:t>(175,893)</a:t>
                      </a:r>
                      <a:endParaRPr sz="937" lang="en-US"/>
                    </a:p>
                  </a:txBody>
                  <a:tcPr marL="95250" marR="95250"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990"/>
                        </a:lnSpc>
                      </a:pPr>
                      <a:r>
                        <a:rPr sz="825" b="0">
                          <a:solidFill>
                            <a:srgbClr val="A32318"/>
                          </a:solidFill>
                          <a:latin typeface="Plus Jakarta Sans ExtraBold"/>
                          <a:cs typeface="Plus Jakarta Sans ExtraBold"/>
                        </a:rPr>
                        <a:t>−1.6%</a:t>
                      </a:r>
                      <a:endParaRPr sz="825" lang="en-US"/>
                    </a:p>
                  </a:txBody>
                  <a:tcPr marL="95250" marR="95250"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219075">
                <a:tc>
                  <a:txBody>
                    <a:bodyPr/>
                    <a:lstStyle/>
                    <a:p>
                      <a:pPr algn="l">
                        <a:lnSpc>
                          <a:spcPts val="990"/>
                        </a:lnSpc>
                      </a:pPr>
                      <a:r>
                        <a:rPr sz="825" b="0">
                          <a:solidFill>
                            <a:srgbClr val="999999"/>
                          </a:solidFill>
                          <a:latin typeface="Plus Jakarta Sans Medium"/>
                          <a:cs typeface="Plus Jakarta Sans Medium"/>
                        </a:rPr>
                        <a:t>% of Revenue</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CFCFD"/>
                    </a:solidFill>
                  </a:tcPr>
                </a:tc>
                <a:tc>
                  <a:txBody>
                    <a:bodyPr/>
                    <a:lstStyle/>
                    <a:p>
                      <a:pPr algn="r">
                        <a:lnSpc>
                          <a:spcPts val="990"/>
                        </a:lnSpc>
                      </a:pPr>
                      <a:r>
                        <a:rPr sz="825" b="0">
                          <a:solidFill>
                            <a:srgbClr val="999999"/>
                          </a:solidFill>
                          <a:latin typeface="Plus Jakarta Sans Medium"/>
                          <a:cs typeface="Plus Jakarta Sans Medium"/>
                        </a:rPr>
                        <a:t>63.0%</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63.7%</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65.0%</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0.6%</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(1.3)%</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63.9%</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64.0%</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l">
                        <a:lnSpc>
                          <a:spcPts val="1125"/>
                        </a:lnSpc>
                      </a:pPr>
                      <a:r>
                        <a:rPr sz="937" b="0">
                          <a:solidFill>
                            <a:srgbClr val="030A17"/>
                          </a:solidFill>
                          <a:latin typeface="Plus Jakarta Sans Medium"/>
                          <a:cs typeface="Plus Jakarta Sans Medium"/>
                        </a:rPr>
                        <a:t> </a:t>
                      </a:r>
                      <a:endParaRPr sz="93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(0.1)%</a:t>
                      </a:r>
                      <a:endParaRPr sz="825" lang="en-US"/>
                    </a:p>
                  </a:txBody>
                  <a:tcPr marL="95250" marR="95250"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95250" marR="95250" marT="0" marB="0" anchor="ctr">
                    <a:lnL w="0" cap="flat" cmpd="sng" algn="ctr">
                      <a:noFill/>
                    </a:lnL>
                    <a:lnR w="0" cap="flat" cmpd="sng" algn="ctr">
                      <a:noFill/>
                    </a:lnR>
                    <a:lnT w="0" cap="flat" cmpd="sng" algn="ctr">
                      <a:noFill/>
                    </a:lnT>
                    <a:lnB w="0" cap="flat" cmpd="sng" algn="ctr">
                      <a:noFill/>
                    </a:lnB>
                    <a:solidFill>
                      <a:srgbClr val="F7F9FC"/>
                    </a:solidFill>
                  </a:tcPr>
                </a:tc>
              </a:tr>
            </a:tbl>
          </a:graphicData>
        </a:graphic>
      </p:graphicFrame>
      <p:sp>
        <p:nvSpPr>
          <p:cNvPr id="8" name="Oval 7"/>
          <p:cNvSpPr/>
          <p:nvPr/>
        </p:nvSpPr>
        <p:spPr>
          <a:xfrm>
            <a:off x="514350" y="55959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 y="55340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Property taxes −$21.1K MoM as the July consultant fee did not recur</a:t>
            </a:r>
            <a:endParaRPr sz="900" lang="en-US"/>
          </a:p>
        </p:txBody>
      </p:sp>
      <p:sp>
        <p:nvSpPr>
          <p:cNvPr id="10" name="Oval 9"/>
          <p:cNvSpPr/>
          <p:nvPr/>
        </p:nvSpPr>
        <p:spPr>
          <a:xfrm>
            <a:off x="514350" y="57864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57245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Operating costs $21K favourable to plan and $10K better than July</a:t>
            </a:r>
            <a:endParaRPr sz="900" lang="en-US"/>
          </a:p>
        </p:txBody>
      </p:sp>
      <p:sp>
        <p:nvSpPr>
          <p:cNvPr id="12" name="Oval 11"/>
          <p:cNvSpPr/>
          <p:nvPr/>
        </p:nvSpPr>
        <p:spPr>
          <a:xfrm>
            <a:off x="6276975" y="55959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0325" y="55340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SG&amp;A $46K over plan YTD on paid advertising; utilities $2.9K over plan</a:t>
            </a:r>
            <a:endParaRPr sz="900" lang="en-US"/>
          </a:p>
        </p:txBody>
      </p:sp>
      <p:sp>
        <p:nvSpPr>
          <p:cNvPr id="14" name="Oval 13"/>
          <p:cNvSpPr/>
          <p:nvPr/>
        </p:nvSpPr>
        <p:spPr>
          <a:xfrm>
            <a:off x="6276975" y="57864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0325" y="57245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YTD revenue $256K behind plan, with Houston $189K of the gap</a:t>
            </a:r>
            <a:endParaRPr sz="900" lang="en-US"/>
          </a:p>
        </p:txBody>
      </p:sp>
      <p:sp>
        <p:nvSpPr>
          <p:cNvPr id="16" name="Rounded Rectangle 15"/>
          <p:cNvSpPr/>
          <p:nvPr/>
        </p:nvSpPr>
        <p:spPr>
          <a:xfrm>
            <a:off x="495300" y="6000750"/>
            <a:ext cx="11201400" cy="438150"/>
          </a:xfrm>
          <a:prstGeom prst="roundRect">
            <a:avLst>
              <a:gd name="adj" fmla="val 17391"/>
            </a:avLst>
          </a:prstGeom>
          <a:solidFill>
            <a:srgbClr val="1767FF"/>
          </a:solidFill>
          <a:ln>
            <a:noFill/>
          </a:ln>
          <a:effectLst/>
        </p:spPr>
        <p:txBody>
          <a:bodyPr rtlCol="0" anchor="ctr"/>
          <a:lstStyle/>
          <a:p/>
        </p:txBody>
      </p:sp>
      <p:sp>
        <p:nvSpPr>
          <p:cNvPr id="17" name="TextBox 16"/>
          <p:cNvSpPr txBox="1"/>
          <p:nvPr/>
        </p:nvSpPr>
        <p:spPr>
          <a:xfrm>
            <a:off x="685800" y="6115050"/>
            <a:ext cx="10820400" cy="209550"/>
          </a:xfrm>
          <a:prstGeom prst="rect">
            <a:avLst/>
          </a:prstGeom>
          <a:noFill/>
        </p:spPr>
        <p:txBody>
          <a:bodyPr wrap="square" lIns="0" rIns="0" tIns="0" bIns="0" anchor="ctr">
            <a:spAutoFit/>
          </a:bodyPr>
          <a:lstStyle/>
          <a:p>
            <a:pPr algn="l">
              <a:lnSpc>
                <a:spcPts val="1650"/>
              </a:lnSpc>
            </a:pPr>
            <a:r>
              <a:rPr sz="1125" b="1" spc="-22">
                <a:solidFill>
                  <a:srgbClr val="FFFFFF"/>
                </a:solidFill>
                <a:latin typeface="Plus Jakarta Sans"/>
                <a:cs typeface="Plus Jakarta Sans"/>
              </a:rPr>
              <a:t>Revenue $2,103K, +0.3% MoM and 5.1% below plan; NOI $1,394K at a 66.3% margin, $93K under plan.</a:t>
            </a:r>
            <a:endParaRPr sz="1125" lang="en-US"/>
          </a:p>
        </p:txBody>
      </p:sp>
      <p:sp>
        <p:nvSpPr>
          <p:cNvPr id="18" name="TextBox 17"/>
          <p:cNvSpPr txBox="1"/>
          <p:nvPr/>
        </p:nvSpPr>
        <p:spPr>
          <a:xfrm>
            <a:off x="495300" y="6572250"/>
            <a:ext cx="2857500" cy="133350"/>
          </a:xfrm>
          <a:prstGeom prst="rect">
            <a:avLst/>
          </a:prstGeom>
          <a:noFill/>
        </p:spPr>
        <p:txBody>
          <a:bodyPr wrap="square" lIns="0" rIns="0" tIns="0" bIns="0" anchor="t">
            <a:spAutoFit/>
          </a:bodyPr>
          <a:lstStyle/>
          <a:p>
            <a:pPr algn="l"/>
            <a:r>
              <a:rPr sz="750" b="0">
                <a:solidFill>
                  <a:srgbClr val="9AA1AA"/>
                </a:solidFill>
                <a:latin typeface="Plus Jakarta Sans Medium"/>
                <a:cs typeface="Plus Jakarta Sans Medium"/>
              </a:rPr>
              <a:t>© RecNation Storage 2026 All rights reserved</a:t>
            </a:r>
            <a:endParaRPr sz="750" lang="en-US"/>
          </a:p>
        </p:txBody>
      </p:sp>
      <p:sp>
        <p:nvSpPr>
          <p:cNvPr id="19" name="TextBox 18"/>
          <p:cNvSpPr txBox="1"/>
          <p:nvPr/>
        </p:nvSpPr>
        <p:spPr>
          <a:xfrm>
            <a:off x="3352800" y="6572250"/>
            <a:ext cx="7962900" cy="133350"/>
          </a:xfrm>
          <a:prstGeom prst="rect">
            <a:avLst/>
          </a:prstGeom>
          <a:noFill/>
        </p:spPr>
        <p:txBody>
          <a:bodyPr wrap="square" lIns="0" rIns="0" tIns="0" bIns="0" anchor="t">
            <a:spAutoFit/>
          </a:bodyPr>
          <a:lstStyle/>
          <a:p>
            <a:pPr algn="r"/>
            <a:r>
              <a:rPr sz="750" b="0">
                <a:solidFill>
                  <a:srgbClr val="9AA1AA"/>
                </a:solidFill>
                <a:latin typeface="Plus Jakarta Sans Medium"/>
                <a:cs typeface="Plus Jakarta Sans Medium"/>
              </a:rPr>
              <a:t>Source: Planful via BigQuery (recnation-analytics.planful) · 2026 Plan Final v2 · costs shown favourable-positive</a:t>
            </a:r>
            <a:endParaRPr sz="750" lang="en-US"/>
          </a:p>
        </p:txBody>
      </p:sp>
      <p:sp>
        <p:nvSpPr>
          <p:cNvPr id="20" name="TextBox 19"/>
          <p:cNvSpPr txBox="1"/>
          <p:nvPr/>
        </p:nvSpPr>
        <p:spPr>
          <a:xfrm>
            <a:off x="11410950" y="6572250"/>
            <a:ext cx="285750" cy="133350"/>
          </a:xfrm>
          <a:prstGeom prst="rect">
            <a:avLst/>
          </a:prstGeom>
          <a:noFill/>
        </p:spPr>
        <p:txBody>
          <a:bodyPr wrap="square" lIns="0" rIns="0" tIns="0" bIns="0" anchor="t">
            <a:spAutoFit/>
          </a:bodyPr>
          <a:lstStyle/>
          <a:p>
            <a:pPr algn="r"/>
            <a:r>
              <a:rPr sz="712" b="1">
                <a:solidFill>
                  <a:srgbClr val="6B7178"/>
                </a:solidFill>
                <a:latin typeface="Plus Jakarta Sans"/>
                <a:cs typeface="Plus Jakarta Sans"/>
              </a:rPr>
              <a:t>2</a:t>
            </a:r>
            <a:endParaRPr sz="712"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300" y="381000"/>
            <a:ext cx="7620000" cy="152400"/>
          </a:xfrm>
          <a:prstGeom prst="rect">
            <a:avLst/>
          </a:prstGeom>
          <a:noFill/>
        </p:spPr>
        <p:txBody>
          <a:bodyPr wrap="square" lIns="0" rIns="0" tIns="0" bIns="0" anchor="t">
            <a:spAutoFit/>
          </a:bodyPr>
          <a:lstStyle/>
          <a:p>
            <a:pPr algn="l"/>
            <a:r>
              <a:rPr sz="900" b="1">
                <a:solidFill>
                  <a:srgbClr val="1767FF"/>
                </a:solidFill>
                <a:latin typeface="Plus Jakarta Sans"/>
                <a:cs typeface="Plus Jakarta Sans"/>
              </a:rPr>
              <a:t>Year over year</a:t>
            </a:r>
            <a:endParaRPr sz="900" lang="en-US"/>
          </a:p>
        </p:txBody>
      </p:sp>
      <p:sp>
        <p:nvSpPr>
          <p:cNvPr id="3" name="TextBox 2"/>
          <p:cNvSpPr txBox="1"/>
          <p:nvPr/>
        </p:nvSpPr>
        <p:spPr>
          <a:xfrm>
            <a:off x="495300" y="552450"/>
            <a:ext cx="9963150" cy="361950"/>
          </a:xfrm>
          <a:prstGeom prst="rect">
            <a:avLst/>
          </a:prstGeom>
          <a:noFill/>
        </p:spPr>
        <p:txBody>
          <a:bodyPr wrap="square" lIns="0" rIns="0" tIns="0" bIns="0" anchor="t">
            <a:spAutoFit/>
          </a:bodyPr>
          <a:lstStyle/>
          <a:p>
            <a:pPr algn="l"/>
            <a:r>
              <a:rPr sz="2250" b="0" spc="-45">
                <a:solidFill>
                  <a:srgbClr val="030A17"/>
                </a:solidFill>
                <a:latin typeface="Plus Jakarta Sans ExtraBold"/>
                <a:cs typeface="Plus Jakarta Sans ExtraBold"/>
              </a:rPr>
              <a:t>YoY Performance – Whole Portfolio</a:t>
            </a:r>
            <a:endParaRPr sz="2250" lang="en-US"/>
          </a:p>
        </p:txBody>
      </p:sp>
      <p:sp>
        <p:nvSpPr>
          <p:cNvPr id="4" name="TextBox 3"/>
          <p:cNvSpPr txBox="1"/>
          <p:nvPr/>
        </p:nvSpPr>
        <p:spPr>
          <a:xfrm>
            <a:off x="495300" y="933450"/>
            <a:ext cx="9963150" cy="180975"/>
          </a:xfrm>
          <a:prstGeom prst="rect">
            <a:avLst/>
          </a:prstGeom>
          <a:noFill/>
        </p:spPr>
        <p:txBody>
          <a:bodyPr wrap="square" lIns="0" rIns="0" tIns="0" bIns="0" anchor="t">
            <a:spAutoFit/>
          </a:bodyPr>
          <a:lstStyle/>
          <a:p>
            <a:pPr algn="l"/>
            <a:r>
              <a:rPr sz="975" b="0" spc="-19">
                <a:solidFill>
                  <a:srgbClr val="555555"/>
                </a:solidFill>
                <a:latin typeface="Plus Jakarta Sans Medium"/>
                <a:cs typeface="Plus Jakarta Sans Medium"/>
              </a:rPr>
              <a:t>Month, year to date and full year against prior year · all 67 entities</a:t>
            </a:r>
            <a:endParaRPr sz="975" lang="en-US"/>
          </a:p>
        </p:txBody>
      </p:sp>
      <p:pic>
        <p:nvPicPr>
          <p:cNvPr id="5" name="Picture 4" descr="logo-colour.png"/>
          <p:cNvPicPr>
            <a:picLocks noChangeAspect="1"/>
          </p:cNvPicPr>
          <p:nvPr/>
        </p:nvPicPr>
        <p:blipFill>
          <a:blip r:embed="rId2"/>
          <a:stretch>
            <a:fillRect/>
          </a:stretch>
        </p:blipFill>
        <p:spPr>
          <a:xfrm>
            <a:off x="10810875" y="485775"/>
            <a:ext cx="781050" cy="401557"/>
          </a:xfrm>
          <a:prstGeom prst="rect">
            <a:avLst/>
          </a:prstGeom>
        </p:spPr>
      </p:pic>
      <p:sp>
        <p:nvSpPr>
          <p:cNvPr id="6" name="Rounded Rectangle 5"/>
          <p:cNvSpPr/>
          <p:nvPr/>
        </p:nvSpPr>
        <p:spPr>
          <a:xfrm>
            <a:off x="495300" y="2047875"/>
            <a:ext cx="11201400" cy="2638425"/>
          </a:xfrm>
          <a:prstGeom prst="roundRect">
            <a:avLst>
              <a:gd name="adj" fmla="val 2888"/>
            </a:avLst>
          </a:prstGeom>
          <a:solidFill>
            <a:srgbClr val="FFFFFF"/>
          </a:solidFill>
          <a:ln w="9525">
            <a:solidFill>
              <a:srgbClr val="E9E9E9"/>
            </a:solidFill>
          </a:ln>
          <a:effectLst>
            <a:outerShdw blurRad="95250" dist="28575" dir="5400000" algn="t" rotWithShape="0">
              <a:srgbClr val="001A4A">
                <a:alpha val="4000"/>
              </a:srgbClr>
            </a:outerShdw>
          </a:effectLst>
        </p:spPr>
        <p:txBody>
          <a:bodyPr rtlCol="0" anchor="ctr"/>
          <a:lstStyle/>
          <a:p/>
        </p:txBody>
      </p:sp>
      <p:graphicFrame>
        <p:nvGraphicFramePr>
          <p:cNvPr id="7" name="Table 6"/>
          <p:cNvGraphicFramePr>
            <a:graphicFrameLocks noGrp="1"/>
          </p:cNvGraphicFramePr>
          <p:nvPr/>
        </p:nvGraphicFramePr>
        <p:xfrm>
          <a:off x="504825" y="2057400"/>
          <a:ext cx="11182350" cy="2619375"/>
        </p:xfrm>
        <a:graphic>
          <a:graphicData uri="http://schemas.openxmlformats.org/drawingml/2006/table">
            <a:tbl>
              <a:tblPr firstRow="0" bandRow="0" firstCol="0" lastRow="0" lastCol="0" bandCol="0">
                <a:tableStyleId>{5940675A-B579-460E-94D1-54222C63F5DA}</a:tableStyleId>
              </a:tblPr>
              <a:tblGrid>
                <a:gridCol w="1686713"/>
                <a:gridCol w="764388"/>
                <a:gridCol w="737487"/>
                <a:gridCol w="94192"/>
                <a:gridCol w="619355"/>
                <a:gridCol w="731794"/>
                <a:gridCol w="94192"/>
                <a:gridCol w="803269"/>
                <a:gridCol w="782247"/>
                <a:gridCol w="94192"/>
                <a:gridCol w="729971"/>
                <a:gridCol w="766806"/>
                <a:gridCol w="94192"/>
                <a:gridCol w="802004"/>
                <a:gridCol w="810003"/>
                <a:gridCol w="94192"/>
                <a:gridCol w="737078"/>
                <a:gridCol w="740277"/>
              </a:tblGrid>
              <a:tr h="247650">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104775" marR="104775"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MTD Actual</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MTD Delta</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YTD Actual</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YTD Delta</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Full Year</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FY Delta</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r>
              <a:tr h="228600">
                <a:tc>
                  <a:txBody>
                    <a:bodyPr/>
                    <a:lstStyle/>
                    <a:p>
                      <a:pPr algn="l">
                        <a:lnSpc>
                          <a:spcPts val="773"/>
                        </a:lnSpc>
                      </a:pPr>
                      <a:r>
                        <a:rPr sz="644" b="1">
                          <a:solidFill>
                            <a:srgbClr val="6B7178"/>
                          </a:solidFill>
                          <a:latin typeface="Plus Jakarta Sans"/>
                          <a:cs typeface="Plus Jakarta Sans"/>
                        </a:rPr>
                        <a:t> </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Aug-25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Aug-26</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YTD Aug-25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YTD Aug-26</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2025 Act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8+4 FCST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r>
              <a:tr h="142875">
                <a:tc>
                  <a:txBody>
                    <a:bodyPr/>
                    <a:lstStyle/>
                    <a:p>
                      <a:pPr algn="l">
                        <a:lnSpc>
                          <a:spcPts val="846"/>
                        </a:lnSpc>
                      </a:pPr>
                      <a:r>
                        <a:rPr sz="705" b="0">
                          <a:solidFill>
                            <a:srgbClr val="030A17"/>
                          </a:solidFill>
                          <a:latin typeface="Plus Jakarta Sans ExtraBold"/>
                          <a:cs typeface="Plus Jakarta Sans ExtraBold"/>
                        </a:rPr>
                        <a:t>Revenues</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2,044,760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2,102,565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57,805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2.8%</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16,363,269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16,829,353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466,084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1E7A2A"/>
                          </a:solidFill>
                          <a:latin typeface="Plus Jakarta Sans ExtraBold"/>
                          <a:cs typeface="Plus Jakarta Sans ExtraBold"/>
                        </a:rPr>
                        <a:t>2.8%</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24,661,152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25,436,243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775,091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1E7A2A"/>
                          </a:solidFill>
                          <a:latin typeface="Plus Jakarta Sans ExtraBold"/>
                          <a:cs typeface="Plus Jakarta Sans ExtraBold"/>
                        </a:rPr>
                        <a:t>3.1%</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846"/>
                        </a:lnSpc>
                      </a:pPr>
                      <a:r>
                        <a:rPr sz="705" b="0">
                          <a:solidFill>
                            <a:srgbClr val="555555"/>
                          </a:solidFill>
                          <a:latin typeface="Plus Jakarta Sans SemiBold"/>
                          <a:cs typeface="Plus Jakarta Sans SemiBold"/>
                        </a:rPr>
                        <a:t>Management Fee</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109,160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111,571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(2,411)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−2.2%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866,162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894,155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(27,993)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−3.2%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1,326,503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1,352,061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(25,558)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−1.9%</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Property Taxes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247,367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264,894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(17,527)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−7.1%</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1,944,127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2,108,328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(164,201)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−8.4%</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2,809,044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3,133,731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(324,687)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−11.6%</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Franchise Taxes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8,822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8,897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(75)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−0.9%</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70,898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72,632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(1,734)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−2.4%</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105,619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111,377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(5,758)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−5.5%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Site maintenance</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165,061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139,422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25,639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1E7A2A"/>
                          </a:solidFill>
                          <a:latin typeface="Plus Jakarta Sans"/>
                          <a:cs typeface="Plus Jakarta Sans"/>
                        </a:rPr>
                        <a:t>15.5%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1,108,760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1,100,265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8,495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1E7A2A"/>
                          </a:solidFill>
                          <a:latin typeface="Plus Jakarta Sans"/>
                          <a:cs typeface="Plus Jakarta Sans"/>
                        </a:rPr>
                        <a:t>0.8%</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1,632,102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1,654,772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(22,670)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−1.4%</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Insurance</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55,505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55,679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(174)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−0.3%</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439,938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450,221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(10,283)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−2.3%</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665,942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670,924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(4,982)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−0.7%</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Utilities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45,910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45,238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672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1E7A2A"/>
                          </a:solidFill>
                          <a:latin typeface="Plus Jakarta Sans"/>
                          <a:cs typeface="Plus Jakarta Sans"/>
                        </a:rPr>
                        <a:t>1.5%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340,742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322,061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18,681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1E7A2A"/>
                          </a:solidFill>
                          <a:latin typeface="Plus Jakarta Sans"/>
                          <a:cs typeface="Plus Jakarta Sans"/>
                        </a:rPr>
                        <a:t>5.5%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522,835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489,839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32,996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1E7A2A"/>
                          </a:solidFill>
                          <a:latin typeface="Plus Jakarta Sans"/>
                          <a:cs typeface="Plus Jakarta Sans"/>
                        </a:rPr>
                        <a:t>6.3%</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846"/>
                        </a:lnSpc>
                      </a:pPr>
                      <a:r>
                        <a:rPr sz="705" b="0">
                          <a:solidFill>
                            <a:srgbClr val="555555"/>
                          </a:solidFill>
                          <a:latin typeface="Plus Jakarta Sans SemiBold"/>
                          <a:cs typeface="Plus Jakarta Sans SemiBold"/>
                        </a:rPr>
                        <a:t>Bank &amp; CC Fees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52,911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51,568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1,343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1E7A2A"/>
                          </a:solidFill>
                          <a:latin typeface="Plus Jakarta Sans"/>
                          <a:cs typeface="Plus Jakarta Sans"/>
                        </a:rPr>
                        <a:t>2.5%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428,866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446,458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(17,592)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−4.1%</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648,753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650,070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(1,317)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−0.2%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Security, Access, Other</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30,491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31,132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(641)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−2.1%</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253,467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247,420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6,047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1E7A2A"/>
                          </a:solidFill>
                          <a:latin typeface="Plus Jakarta Sans"/>
                          <a:cs typeface="Plus Jakarta Sans"/>
                        </a:rPr>
                        <a:t>2.4%</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376,714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371,077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5,637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1E7A2A"/>
                          </a:solidFill>
                          <a:latin typeface="Plus Jakarta Sans"/>
                          <a:cs typeface="Plus Jakarta Sans"/>
                        </a:rPr>
                        <a:t>1.5%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846"/>
                        </a:lnSpc>
                      </a:pPr>
                      <a:r>
                        <a:rPr sz="705" b="0">
                          <a:solidFill>
                            <a:srgbClr val="030A17"/>
                          </a:solidFill>
                          <a:latin typeface="Plus Jakarta Sans ExtraBold"/>
                          <a:cs typeface="Plus Jakarta Sans ExtraBold"/>
                        </a:rPr>
                        <a:t>Operating Costs</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715,227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708,401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6,826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1.0%</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5,452,960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5,641,540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C1291C"/>
                          </a:solidFill>
                          <a:latin typeface="Plus Jakarta Sans ExtraBold"/>
                          <a:cs typeface="Plus Jakarta Sans ExtraBold"/>
                        </a:rPr>
                        <a:t>(188,580)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A32318"/>
                          </a:solidFill>
                          <a:latin typeface="Plus Jakarta Sans ExtraBold"/>
                          <a:cs typeface="Plus Jakarta Sans ExtraBold"/>
                        </a:rPr>
                        <a:t>−3.5%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8,087,512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8,433,851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C1291C"/>
                          </a:solidFill>
                          <a:latin typeface="Plus Jakarta Sans ExtraBold"/>
                          <a:cs typeface="Plus Jakarta Sans ExtraBold"/>
                        </a:rPr>
                        <a:t>(346,339)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A32318"/>
                          </a:solidFill>
                          <a:latin typeface="Plus Jakarta Sans ExtraBold"/>
                          <a:cs typeface="Plus Jakarta Sans ExtraBold"/>
                        </a:rPr>
                        <a:t>−4.3%</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030A17"/>
                          </a:solidFill>
                          <a:latin typeface="Plus Jakarta Sans ExtraBold"/>
                          <a:cs typeface="Plus Jakarta Sans ExtraBold"/>
                        </a:rPr>
                        <a:t>Net Operating Income</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1,329,533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1,394,164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64,631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4.9%</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10,910,309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11,187,813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277,504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1E7A2A"/>
                          </a:solidFill>
                          <a:latin typeface="Plus Jakarta Sans ExtraBold"/>
                          <a:cs typeface="Plus Jakarta Sans ExtraBold"/>
                        </a:rPr>
                        <a:t>2.5%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16,573,640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17,002,392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428,752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1E7A2A"/>
                          </a:solidFill>
                          <a:latin typeface="Plus Jakarta Sans ExtraBold"/>
                          <a:cs typeface="Plus Jakarta Sans ExtraBold"/>
                        </a:rPr>
                        <a:t>2.6%</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990"/>
                        </a:lnSpc>
                      </a:pPr>
                      <a:r>
                        <a:rPr sz="825" b="0">
                          <a:solidFill>
                            <a:srgbClr val="999999"/>
                          </a:solidFill>
                          <a:latin typeface="Plus Jakarta Sans Medium"/>
                          <a:cs typeface="Plus Jakarta Sans Medium"/>
                        </a:rPr>
                        <a:t>% of Revenue</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90"/>
                        </a:lnSpc>
                      </a:pPr>
                      <a:r>
                        <a:rPr sz="825" b="0">
                          <a:solidFill>
                            <a:srgbClr val="999999"/>
                          </a:solidFill>
                          <a:latin typeface="Plus Jakarta Sans Medium"/>
                          <a:cs typeface="Plus Jakarta Sans Medium"/>
                        </a:rPr>
                        <a:t>65.0%</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66.3%</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1.3%</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66.7%</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66.5%</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(0.2)%</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67.2%</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66.8%</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(0.4)%</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7F9FC"/>
                    </a:solidFill>
                  </a:tcPr>
                </a:tc>
              </a:tr>
              <a:tr h="142875">
                <a:tc>
                  <a:txBody>
                    <a:bodyPr/>
                    <a:lstStyle/>
                    <a:p>
                      <a:pPr algn="l">
                        <a:lnSpc>
                          <a:spcPts val="846"/>
                        </a:lnSpc>
                      </a:pPr>
                      <a:r>
                        <a:rPr sz="705" b="0">
                          <a:solidFill>
                            <a:srgbClr val="555555"/>
                          </a:solidFill>
                          <a:latin typeface="Plus Jakarta Sans SemiBold"/>
                          <a:cs typeface="Plus Jakarta Sans SemiBold"/>
                        </a:rPr>
                        <a:t>SG&amp;A</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46,099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55,096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(8,997)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−19.5%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355,244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426,282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(71,038)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−20.0%</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538,110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617,897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(79,787)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−14.8%</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030A17"/>
                          </a:solidFill>
                          <a:latin typeface="Plus Jakarta Sans ExtraBold"/>
                          <a:cs typeface="Plus Jakarta Sans ExtraBold"/>
                        </a:rPr>
                        <a:t>Adjusted EBITDA</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1,283,434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1,339,068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55,634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4.3%</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10,555,065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10,761,531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206,466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1E7A2A"/>
                          </a:solidFill>
                          <a:latin typeface="Plus Jakarta Sans ExtraBold"/>
                          <a:cs typeface="Plus Jakarta Sans ExtraBold"/>
                        </a:rPr>
                        <a:t>2.0%</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16,035,530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16,384,495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348,965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1E7A2A"/>
                          </a:solidFill>
                          <a:latin typeface="Plus Jakarta Sans ExtraBold"/>
                          <a:cs typeface="Plus Jakarta Sans ExtraBold"/>
                        </a:rPr>
                        <a:t>2.2%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990"/>
                        </a:lnSpc>
                      </a:pPr>
                      <a:r>
                        <a:rPr sz="825" b="0">
                          <a:solidFill>
                            <a:srgbClr val="999999"/>
                          </a:solidFill>
                          <a:latin typeface="Plus Jakarta Sans Medium"/>
                          <a:cs typeface="Plus Jakarta Sans Medium"/>
                        </a:rPr>
                        <a:t>% of Revenue</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CFCFD"/>
                    </a:solidFill>
                  </a:tcPr>
                </a:tc>
                <a:tc>
                  <a:txBody>
                    <a:bodyPr/>
                    <a:lstStyle/>
                    <a:p>
                      <a:pPr algn="r">
                        <a:lnSpc>
                          <a:spcPts val="990"/>
                        </a:lnSpc>
                      </a:pPr>
                      <a:r>
                        <a:rPr sz="825" b="0">
                          <a:solidFill>
                            <a:srgbClr val="999999"/>
                          </a:solidFill>
                          <a:latin typeface="Plus Jakarta Sans Medium"/>
                          <a:cs typeface="Plus Jakarta Sans Medium"/>
                        </a:rPr>
                        <a:t>62.8%</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63.7%</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0.9%</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64.5%</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63.9%</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(0.6)%</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65.0%</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64.4%</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(0.6)%</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0" cap="flat" cmpd="sng" algn="ctr">
                      <a:noFill/>
                    </a:lnR>
                    <a:lnT w="0" cap="flat" cmpd="sng" algn="ctr">
                      <a:noFill/>
                    </a:lnT>
                    <a:lnB w="0" cap="flat" cmpd="sng" algn="ctr">
                      <a:noFill/>
                    </a:lnB>
                    <a:solidFill>
                      <a:srgbClr val="F7F9FC"/>
                    </a:solidFill>
                  </a:tcPr>
                </a:tc>
              </a:tr>
            </a:tbl>
          </a:graphicData>
        </a:graphic>
      </p:graphicFrame>
      <p:sp>
        <p:nvSpPr>
          <p:cNvPr id="8" name="Oval 7"/>
          <p:cNvSpPr/>
          <p:nvPr/>
        </p:nvSpPr>
        <p:spPr>
          <a:xfrm>
            <a:off x="514350" y="55959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 y="55340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Site maintenance −$25.6K MTD and $8.5K favourable YTD, the largest cost win</a:t>
            </a:r>
            <a:endParaRPr sz="900" lang="en-US"/>
          </a:p>
        </p:txBody>
      </p:sp>
      <p:sp>
        <p:nvSpPr>
          <p:cNvPr id="10" name="Oval 9"/>
          <p:cNvSpPr/>
          <p:nvPr/>
        </p:nvSpPr>
        <p:spPr>
          <a:xfrm>
            <a:off x="514350" y="57864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57245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Property taxes +$17.5K MTD and +$164.2K YTD, still the dominant headwind</a:t>
            </a:r>
            <a:endParaRPr sz="900" lang="en-US"/>
          </a:p>
        </p:txBody>
      </p:sp>
      <p:sp>
        <p:nvSpPr>
          <p:cNvPr id="12" name="Oval 11"/>
          <p:cNvSpPr/>
          <p:nvPr/>
        </p:nvSpPr>
        <p:spPr>
          <a:xfrm>
            <a:off x="6276975" y="55959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0325" y="55340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Utilities favourable $0.7K MTD and $18.7K YTD on dumpster cancellations</a:t>
            </a:r>
            <a:endParaRPr sz="900" lang="en-US"/>
          </a:p>
        </p:txBody>
      </p:sp>
      <p:sp>
        <p:nvSpPr>
          <p:cNvPr id="14" name="Oval 13"/>
          <p:cNvSpPr/>
          <p:nvPr/>
        </p:nvSpPr>
        <p:spPr>
          <a:xfrm>
            <a:off x="6276975" y="57864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0325" y="57245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FY forecast EBITDA $16.38M, +2.2% on 2025 with margin easing to 64.4%</a:t>
            </a:r>
            <a:endParaRPr sz="900" lang="en-US"/>
          </a:p>
        </p:txBody>
      </p:sp>
      <p:sp>
        <p:nvSpPr>
          <p:cNvPr id="16" name="Rounded Rectangle 15"/>
          <p:cNvSpPr/>
          <p:nvPr/>
        </p:nvSpPr>
        <p:spPr>
          <a:xfrm>
            <a:off x="495300" y="6000750"/>
            <a:ext cx="11201400" cy="438150"/>
          </a:xfrm>
          <a:prstGeom prst="roundRect">
            <a:avLst>
              <a:gd name="adj" fmla="val 17391"/>
            </a:avLst>
          </a:prstGeom>
          <a:solidFill>
            <a:srgbClr val="1767FF"/>
          </a:solidFill>
          <a:ln>
            <a:noFill/>
          </a:ln>
          <a:effectLst/>
        </p:spPr>
        <p:txBody>
          <a:bodyPr rtlCol="0" anchor="ctr"/>
          <a:lstStyle/>
          <a:p/>
        </p:txBody>
      </p:sp>
      <p:sp>
        <p:nvSpPr>
          <p:cNvPr id="17" name="TextBox 16"/>
          <p:cNvSpPr txBox="1"/>
          <p:nvPr/>
        </p:nvSpPr>
        <p:spPr>
          <a:xfrm>
            <a:off x="685800" y="6115050"/>
            <a:ext cx="10820400" cy="209550"/>
          </a:xfrm>
          <a:prstGeom prst="rect">
            <a:avLst/>
          </a:prstGeom>
          <a:noFill/>
        </p:spPr>
        <p:txBody>
          <a:bodyPr wrap="square" lIns="0" rIns="0" tIns="0" bIns="0" anchor="ctr">
            <a:spAutoFit/>
          </a:bodyPr>
          <a:lstStyle/>
          <a:p>
            <a:pPr algn="l">
              <a:lnSpc>
                <a:spcPts val="1650"/>
              </a:lnSpc>
            </a:pPr>
            <a:r>
              <a:rPr sz="1125" b="1" spc="-22">
                <a:solidFill>
                  <a:srgbClr val="FFFFFF"/>
                </a:solidFill>
                <a:latin typeface="Plus Jakarta Sans"/>
                <a:cs typeface="Plus Jakarta Sans"/>
              </a:rPr>
              <a:t>Revenue +2.8% MTD and +2.8% YTD; NOI margin up 129 bps MTD to 66.3%.</a:t>
            </a:r>
            <a:endParaRPr sz="1125" lang="en-US"/>
          </a:p>
        </p:txBody>
      </p:sp>
      <p:sp>
        <p:nvSpPr>
          <p:cNvPr id="18" name="TextBox 17"/>
          <p:cNvSpPr txBox="1"/>
          <p:nvPr/>
        </p:nvSpPr>
        <p:spPr>
          <a:xfrm>
            <a:off x="495300" y="6572250"/>
            <a:ext cx="2857500" cy="133350"/>
          </a:xfrm>
          <a:prstGeom prst="rect">
            <a:avLst/>
          </a:prstGeom>
          <a:noFill/>
        </p:spPr>
        <p:txBody>
          <a:bodyPr wrap="square" lIns="0" rIns="0" tIns="0" bIns="0" anchor="t">
            <a:spAutoFit/>
          </a:bodyPr>
          <a:lstStyle/>
          <a:p>
            <a:pPr algn="l"/>
            <a:r>
              <a:rPr sz="750" b="0">
                <a:solidFill>
                  <a:srgbClr val="9AA1AA"/>
                </a:solidFill>
                <a:latin typeface="Plus Jakarta Sans Medium"/>
                <a:cs typeface="Plus Jakarta Sans Medium"/>
              </a:rPr>
              <a:t>© RecNation Storage 2026 All rights reserved</a:t>
            </a:r>
            <a:endParaRPr sz="750" lang="en-US"/>
          </a:p>
        </p:txBody>
      </p:sp>
      <p:sp>
        <p:nvSpPr>
          <p:cNvPr id="19" name="TextBox 18"/>
          <p:cNvSpPr txBox="1"/>
          <p:nvPr/>
        </p:nvSpPr>
        <p:spPr>
          <a:xfrm>
            <a:off x="3352800" y="6572250"/>
            <a:ext cx="7962900" cy="133350"/>
          </a:xfrm>
          <a:prstGeom prst="rect">
            <a:avLst/>
          </a:prstGeom>
          <a:noFill/>
        </p:spPr>
        <p:txBody>
          <a:bodyPr wrap="square" lIns="0" rIns="0" tIns="0" bIns="0" anchor="t">
            <a:spAutoFit/>
          </a:bodyPr>
          <a:lstStyle/>
          <a:p>
            <a:pPr algn="r"/>
            <a:r>
              <a:rPr sz="750" b="0">
                <a:solidFill>
                  <a:srgbClr val="9AA1AA"/>
                </a:solidFill>
                <a:latin typeface="Plus Jakarta Sans Medium"/>
                <a:cs typeface="Plus Jakarta Sans Medium"/>
              </a:rPr>
              <a:t>Source: Planful via BigQuery (recnation-analytics.planful) · 8+4 forecast · costs shown favourable-positive</a:t>
            </a:r>
            <a:endParaRPr sz="750" lang="en-US"/>
          </a:p>
        </p:txBody>
      </p:sp>
      <p:sp>
        <p:nvSpPr>
          <p:cNvPr id="20" name="TextBox 19"/>
          <p:cNvSpPr txBox="1"/>
          <p:nvPr/>
        </p:nvSpPr>
        <p:spPr>
          <a:xfrm>
            <a:off x="11410950" y="6572250"/>
            <a:ext cx="285750" cy="133350"/>
          </a:xfrm>
          <a:prstGeom prst="rect">
            <a:avLst/>
          </a:prstGeom>
          <a:noFill/>
        </p:spPr>
        <p:txBody>
          <a:bodyPr wrap="square" lIns="0" rIns="0" tIns="0" bIns="0" anchor="t">
            <a:spAutoFit/>
          </a:bodyPr>
          <a:lstStyle/>
          <a:p>
            <a:pPr algn="r"/>
            <a:r>
              <a:rPr sz="712" b="1">
                <a:solidFill>
                  <a:srgbClr val="6B7178"/>
                </a:solidFill>
                <a:latin typeface="Plus Jakarta Sans"/>
                <a:cs typeface="Plus Jakarta Sans"/>
              </a:rPr>
              <a:t>3</a:t>
            </a:r>
            <a:endParaRPr sz="712"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300" y="381000"/>
            <a:ext cx="7620000" cy="152400"/>
          </a:xfrm>
          <a:prstGeom prst="rect">
            <a:avLst/>
          </a:prstGeom>
          <a:noFill/>
        </p:spPr>
        <p:txBody>
          <a:bodyPr wrap="square" lIns="0" rIns="0" tIns="0" bIns="0" anchor="t">
            <a:spAutoFit/>
          </a:bodyPr>
          <a:lstStyle/>
          <a:p>
            <a:pPr algn="l"/>
            <a:r>
              <a:rPr sz="900" b="1">
                <a:solidFill>
                  <a:srgbClr val="1767FF"/>
                </a:solidFill>
                <a:latin typeface="Plus Jakarta Sans"/>
                <a:cs typeface="Plus Jakarta Sans"/>
              </a:rPr>
              <a:t>Year over year</a:t>
            </a:r>
            <a:endParaRPr sz="900" lang="en-US"/>
          </a:p>
        </p:txBody>
      </p:sp>
      <p:sp>
        <p:nvSpPr>
          <p:cNvPr id="3" name="TextBox 2"/>
          <p:cNvSpPr txBox="1"/>
          <p:nvPr/>
        </p:nvSpPr>
        <p:spPr>
          <a:xfrm>
            <a:off x="495300" y="552450"/>
            <a:ext cx="9963150" cy="361950"/>
          </a:xfrm>
          <a:prstGeom prst="rect">
            <a:avLst/>
          </a:prstGeom>
          <a:noFill/>
        </p:spPr>
        <p:txBody>
          <a:bodyPr wrap="square" lIns="0" rIns="0" tIns="0" bIns="0" anchor="t">
            <a:spAutoFit/>
          </a:bodyPr>
          <a:lstStyle/>
          <a:p>
            <a:pPr algn="l"/>
            <a:r>
              <a:rPr sz="2250" b="0" spc="-45">
                <a:solidFill>
                  <a:srgbClr val="030A17"/>
                </a:solidFill>
                <a:latin typeface="Plus Jakarta Sans ExtraBold"/>
                <a:cs typeface="Plus Jakarta Sans ExtraBold"/>
              </a:rPr>
              <a:t>YoY Performance – Same Store</a:t>
            </a:r>
            <a:endParaRPr sz="2250" lang="en-US"/>
          </a:p>
        </p:txBody>
      </p:sp>
      <p:sp>
        <p:nvSpPr>
          <p:cNvPr id="4" name="TextBox 3"/>
          <p:cNvSpPr txBox="1"/>
          <p:nvPr/>
        </p:nvSpPr>
        <p:spPr>
          <a:xfrm>
            <a:off x="495300" y="933450"/>
            <a:ext cx="9963150" cy="180975"/>
          </a:xfrm>
          <a:prstGeom prst="rect">
            <a:avLst/>
          </a:prstGeom>
          <a:noFill/>
        </p:spPr>
        <p:txBody>
          <a:bodyPr wrap="square" lIns="0" rIns="0" tIns="0" bIns="0" anchor="t">
            <a:spAutoFit/>
          </a:bodyPr>
          <a:lstStyle/>
          <a:p>
            <a:pPr algn="l"/>
            <a:r>
              <a:rPr sz="975" b="0" spc="-19">
                <a:solidFill>
                  <a:srgbClr val="555555"/>
                </a:solidFill>
                <a:latin typeface="Plus Jakarta Sans Medium"/>
                <a:cs typeface="Plus Jakarta Sans Medium"/>
              </a:rPr>
              <a:t>Excludes FLNED04, FLNED07, FLSWD02, TXDFW10, TXHOU03, TXHOU13, TXHOU16 and RRJV · 58 entities</a:t>
            </a:r>
            <a:endParaRPr sz="975" lang="en-US"/>
          </a:p>
        </p:txBody>
      </p:sp>
      <p:pic>
        <p:nvPicPr>
          <p:cNvPr id="5" name="Picture 4" descr="logo-colour.png"/>
          <p:cNvPicPr>
            <a:picLocks noChangeAspect="1"/>
          </p:cNvPicPr>
          <p:nvPr/>
        </p:nvPicPr>
        <p:blipFill>
          <a:blip r:embed="rId2"/>
          <a:stretch>
            <a:fillRect/>
          </a:stretch>
        </p:blipFill>
        <p:spPr>
          <a:xfrm>
            <a:off x="10810875" y="485775"/>
            <a:ext cx="781050" cy="401557"/>
          </a:xfrm>
          <a:prstGeom prst="rect">
            <a:avLst/>
          </a:prstGeom>
        </p:spPr>
      </p:pic>
      <p:sp>
        <p:nvSpPr>
          <p:cNvPr id="6" name="Rounded Rectangle 5"/>
          <p:cNvSpPr/>
          <p:nvPr/>
        </p:nvSpPr>
        <p:spPr>
          <a:xfrm>
            <a:off x="495300" y="2047875"/>
            <a:ext cx="11201400" cy="2638425"/>
          </a:xfrm>
          <a:prstGeom prst="roundRect">
            <a:avLst>
              <a:gd name="adj" fmla="val 2888"/>
            </a:avLst>
          </a:prstGeom>
          <a:solidFill>
            <a:srgbClr val="FFFFFF"/>
          </a:solidFill>
          <a:ln w="9525">
            <a:solidFill>
              <a:srgbClr val="E9E9E9"/>
            </a:solidFill>
          </a:ln>
          <a:effectLst>
            <a:outerShdw blurRad="95250" dist="28575" dir="5400000" algn="t" rotWithShape="0">
              <a:srgbClr val="001A4A">
                <a:alpha val="4000"/>
              </a:srgbClr>
            </a:outerShdw>
          </a:effectLst>
        </p:spPr>
        <p:txBody>
          <a:bodyPr rtlCol="0" anchor="ctr"/>
          <a:lstStyle/>
          <a:p/>
        </p:txBody>
      </p:sp>
      <p:graphicFrame>
        <p:nvGraphicFramePr>
          <p:cNvPr id="7" name="Table 6"/>
          <p:cNvGraphicFramePr>
            <a:graphicFrameLocks noGrp="1"/>
          </p:cNvGraphicFramePr>
          <p:nvPr/>
        </p:nvGraphicFramePr>
        <p:xfrm>
          <a:off x="504825" y="2057400"/>
          <a:ext cx="11182350" cy="2619375"/>
        </p:xfrm>
        <a:graphic>
          <a:graphicData uri="http://schemas.openxmlformats.org/drawingml/2006/table">
            <a:tbl>
              <a:tblPr firstRow="0" bandRow="0" firstCol="0" lastRow="0" lastCol="0" bandCol="0">
                <a:tableStyleId>{5940675A-B579-460E-94D1-54222C63F5DA}</a:tableStyleId>
              </a:tblPr>
              <a:tblGrid>
                <a:gridCol w="1695222"/>
                <a:gridCol w="724379"/>
                <a:gridCol w="741196"/>
                <a:gridCol w="94192"/>
                <a:gridCol w="639807"/>
                <a:gridCol w="761176"/>
                <a:gridCol w="94192"/>
                <a:gridCol w="790942"/>
                <a:gridCol w="802067"/>
                <a:gridCol w="94192"/>
                <a:gridCol w="725867"/>
                <a:gridCol w="754033"/>
                <a:gridCol w="94192"/>
                <a:gridCol w="792654"/>
                <a:gridCol w="787817"/>
                <a:gridCol w="94192"/>
                <a:gridCol w="751986"/>
                <a:gridCol w="744247"/>
              </a:tblGrid>
              <a:tr h="247650">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104775" marR="104775"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MTD Actual</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MTD Delta</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YTD Actual</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YTD Delta</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Full Year</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l">
                        <a:lnSpc>
                          <a:spcPts val="944"/>
                        </a:lnSpc>
                      </a:pPr>
                      <a:r>
                        <a:rPr sz="787" b="0">
                          <a:solidFill>
                            <a:srgbClr val="1767FF"/>
                          </a:solidFill>
                          <a:latin typeface="Plus Jakarta Sans ExtraBold"/>
                          <a:cs typeface="Plus Jakarta Sans ExtraBold"/>
                        </a:rPr>
                        <a:t> </a:t>
                      </a:r>
                      <a:endParaRPr sz="787"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gridSpan="2">
                  <a:txBody>
                    <a:bodyPr/>
                    <a:lstStyle/>
                    <a:p>
                      <a:pPr algn="ctr">
                        <a:lnSpc>
                          <a:spcPts val="944"/>
                        </a:lnSpc>
                      </a:pPr>
                      <a:r>
                        <a:rPr sz="787" b="0">
                          <a:solidFill>
                            <a:srgbClr val="1767FF"/>
                          </a:solidFill>
                          <a:latin typeface="Plus Jakarta Sans ExtraBold"/>
                          <a:cs typeface="Plus Jakarta Sans ExtraBold"/>
                        </a:rPr>
                        <a:t>FY Delta</a:t>
                      </a:r>
                      <a:endParaRPr sz="787"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hMerge="1">
                  <a:txBody>
                    <a:bodyPr/>
                    <a:lstStyle/>
                    <a:p/>
                  </a:txBody>
                  <a:tcPr>
                    <a:lnL w="0" cap="flat" cmpd="sng" algn="ctr">
                      <a:noFill/>
                    </a:lnL>
                    <a:lnR w="0" cap="flat" cmpd="sng" algn="ctr">
                      <a:noFill/>
                    </a:lnR>
                    <a:lnT w="0" cap="flat" cmpd="sng" algn="ctr">
                      <a:noFill/>
                    </a:lnT>
                    <a:lnB w="9525" cap="flat" cmpd="sng" algn="ctr">
                      <a:solidFill>
                        <a:srgbClr val="EDEFF2"/>
                      </a:solidFill>
                    </a:lnB>
                    <a:solidFill>
                      <a:srgbClr val="FFFFFF"/>
                    </a:solidFill>
                  </a:tcPr>
                </a:tc>
              </a:tr>
              <a:tr h="228600">
                <a:tc>
                  <a:txBody>
                    <a:bodyPr/>
                    <a:lstStyle/>
                    <a:p>
                      <a:pPr algn="l">
                        <a:lnSpc>
                          <a:spcPts val="773"/>
                        </a:lnSpc>
                      </a:pPr>
                      <a:r>
                        <a:rPr sz="644" b="1">
                          <a:solidFill>
                            <a:srgbClr val="6B7178"/>
                          </a:solidFill>
                          <a:latin typeface="Plus Jakarta Sans"/>
                          <a:cs typeface="Plus Jakarta Sans"/>
                        </a:rPr>
                        <a:t> </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Aug-25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Aug-26</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YTD Aug-25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YTD Aug-26</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2025 Act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8+4 FCST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l">
                        <a:lnSpc>
                          <a:spcPts val="773"/>
                        </a:lnSpc>
                      </a:pPr>
                      <a:r>
                        <a:rPr sz="644" b="1">
                          <a:solidFill>
                            <a:srgbClr val="6B7178"/>
                          </a:solidFill>
                          <a:latin typeface="Plus Jakarta Sans"/>
                          <a:cs typeface="Plus Jakarta Sans"/>
                        </a:rPr>
                        <a:t> </a:t>
                      </a:r>
                      <a:endParaRPr sz="64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773"/>
                        </a:lnSpc>
                      </a:pPr>
                      <a:r>
                        <a:rPr sz="644" b="1">
                          <a:solidFill>
                            <a:srgbClr val="6B7178"/>
                          </a:solidFill>
                          <a:latin typeface="Plus Jakarta Sans"/>
                          <a:cs typeface="Plus Jakarta Sans"/>
                        </a:rPr>
                        <a:t>%</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r>
              <a:tr h="142875">
                <a:tc>
                  <a:txBody>
                    <a:bodyPr/>
                    <a:lstStyle/>
                    <a:p>
                      <a:pPr algn="l">
                        <a:lnSpc>
                          <a:spcPts val="846"/>
                        </a:lnSpc>
                      </a:pPr>
                      <a:r>
                        <a:rPr sz="705" b="0">
                          <a:solidFill>
                            <a:srgbClr val="030A17"/>
                          </a:solidFill>
                          <a:latin typeface="Plus Jakarta Sans ExtraBold"/>
                          <a:cs typeface="Plus Jakarta Sans ExtraBold"/>
                        </a:rPr>
                        <a:t>Revenues</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1,921,868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1,958,121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36,253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1.9%</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15,376,625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15,757,157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380,532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1E7A2A"/>
                          </a:solidFill>
                          <a:latin typeface="Plus Jakarta Sans ExtraBold"/>
                          <a:cs typeface="Plus Jakarta Sans ExtraBold"/>
                        </a:rPr>
                        <a:t>2.5%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23,143,629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23,717,706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574,077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1E7A2A"/>
                          </a:solidFill>
                          <a:latin typeface="Plus Jakarta Sans ExtraBold"/>
                          <a:cs typeface="Plus Jakarta Sans ExtraBold"/>
                        </a:rPr>
                        <a:t>2.5%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846"/>
                        </a:lnSpc>
                      </a:pPr>
                      <a:r>
                        <a:rPr sz="705" b="0">
                          <a:solidFill>
                            <a:srgbClr val="555555"/>
                          </a:solidFill>
                          <a:latin typeface="Plus Jakarta Sans SemiBold"/>
                          <a:cs typeface="Plus Jakarta Sans SemiBold"/>
                        </a:rPr>
                        <a:t>Management Fee</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102,552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104,943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(2,391)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−2.3%</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814,449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835,100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(20,651)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−2.5%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1,244,631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1,262,962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(18,331)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−1.5%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Property Taxes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226,567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244,904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(18,337)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−8.1%</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1,799,058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1,901,454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(102,396)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−5.7%</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2,591,129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2,830,423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(239,294)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−9.2%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Franchise Taxes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8,294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8,454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−1.9%</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66,363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68,719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(2,356)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−3.6%</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99,050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105,194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(6,144)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−6.2%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Site maintenance</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154,333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131,040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23,293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1E7A2A"/>
                          </a:solidFill>
                          <a:latin typeface="Plus Jakarta Sans"/>
                          <a:cs typeface="Plus Jakarta Sans"/>
                        </a:rPr>
                        <a:t>15.1%</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1,033,928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1,014,602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19,326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1E7A2A"/>
                          </a:solidFill>
                          <a:latin typeface="Plus Jakarta Sans"/>
                          <a:cs typeface="Plus Jakarta Sans"/>
                        </a:rPr>
                        <a:t>1.9%</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1,531,369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1,534,336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(2,967)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−0.2%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Insurance</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52,325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54,530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(2,205)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−4.2%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418,321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428,070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(9,749)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−2.3%</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633,448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633,616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(168)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6B7178"/>
                          </a:solidFill>
                          <a:latin typeface="Plus Jakarta Sans"/>
                          <a:cs typeface="Plus Jakarta Sans"/>
                        </a:rPr>
                        <a:t>0.0%</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1F2F4"/>
                    </a:solidFill>
                  </a:tcPr>
                </a:tc>
              </a:tr>
              <a:tr h="142875">
                <a:tc>
                  <a:txBody>
                    <a:bodyPr/>
                    <a:lstStyle/>
                    <a:p>
                      <a:pPr algn="l">
                        <a:lnSpc>
                          <a:spcPts val="846"/>
                        </a:lnSpc>
                      </a:pPr>
                      <a:r>
                        <a:rPr sz="705" b="0">
                          <a:solidFill>
                            <a:srgbClr val="555555"/>
                          </a:solidFill>
                          <a:latin typeface="Plus Jakarta Sans SemiBold"/>
                          <a:cs typeface="Plus Jakarta Sans SemiBold"/>
                        </a:rPr>
                        <a:t>Utilities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42,877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42,379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498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1E7A2A"/>
                          </a:solidFill>
                          <a:latin typeface="Plus Jakarta Sans"/>
                          <a:cs typeface="Plus Jakarta Sans"/>
                        </a:rPr>
                        <a:t>1.2%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315,174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299,900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15,274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1E7A2A"/>
                          </a:solidFill>
                          <a:latin typeface="Plus Jakarta Sans"/>
                          <a:cs typeface="Plus Jakarta Sans"/>
                        </a:rPr>
                        <a:t>4.8%</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485,668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456,227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29,441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1E7A2A"/>
                          </a:solidFill>
                          <a:latin typeface="Plus Jakarta Sans"/>
                          <a:cs typeface="Plus Jakarta Sans"/>
                        </a:rPr>
                        <a:t>6.1%</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846"/>
                        </a:lnSpc>
                      </a:pPr>
                      <a:r>
                        <a:rPr sz="705" b="0">
                          <a:solidFill>
                            <a:srgbClr val="555555"/>
                          </a:solidFill>
                          <a:latin typeface="Plus Jakarta Sans SemiBold"/>
                          <a:cs typeface="Plus Jakarta Sans SemiBold"/>
                        </a:rPr>
                        <a:t>Bank &amp; CC Fees</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48,882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47,660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1,222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1E7A2A"/>
                          </a:solidFill>
                          <a:latin typeface="Plus Jakarta Sans"/>
                          <a:cs typeface="Plus Jakarta Sans"/>
                        </a:rPr>
                        <a:t>2.5%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397,875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410,704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(12,829)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−3.2%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597,659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599,030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(1,371)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−0.2%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555555"/>
                          </a:solidFill>
                          <a:latin typeface="Plus Jakarta Sans SemiBold"/>
                          <a:cs typeface="Plus Jakarta Sans SemiBold"/>
                        </a:rPr>
                        <a:t>Security, Access, Other</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27,821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28,198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(377)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−1.4%</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229,861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224,050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5,811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1E7A2A"/>
                          </a:solidFill>
                          <a:latin typeface="Plus Jakarta Sans"/>
                          <a:cs typeface="Plus Jakarta Sans"/>
                        </a:rPr>
                        <a:t>2.5%</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338,906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334,906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4,000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1E7A2A"/>
                          </a:solidFill>
                          <a:latin typeface="Plus Jakarta Sans"/>
                          <a:cs typeface="Plus Jakarta Sans"/>
                        </a:rPr>
                        <a:t>1.2%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846"/>
                        </a:lnSpc>
                      </a:pPr>
                      <a:r>
                        <a:rPr sz="705" b="0">
                          <a:solidFill>
                            <a:srgbClr val="030A17"/>
                          </a:solidFill>
                          <a:latin typeface="Plus Jakarta Sans ExtraBold"/>
                          <a:cs typeface="Plus Jakarta Sans ExtraBold"/>
                        </a:rPr>
                        <a:t>Operating Costs</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663,651</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662,108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1,543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0.2%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5,075,029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5,182,599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C1291C"/>
                          </a:solidFill>
                          <a:latin typeface="Plus Jakarta Sans ExtraBold"/>
                          <a:cs typeface="Plus Jakarta Sans ExtraBold"/>
                        </a:rPr>
                        <a:t>(107,570)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A32318"/>
                          </a:solidFill>
                          <a:latin typeface="Plus Jakarta Sans ExtraBold"/>
                          <a:cs typeface="Plus Jakarta Sans ExtraBold"/>
                        </a:rPr>
                        <a:t>−2.1%</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7,521,860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7,756,694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C1291C"/>
                          </a:solidFill>
                          <a:latin typeface="Plus Jakarta Sans ExtraBold"/>
                          <a:cs typeface="Plus Jakarta Sans ExtraBold"/>
                        </a:rPr>
                        <a:t>(234,834)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A32318"/>
                          </a:solidFill>
                          <a:latin typeface="Plus Jakarta Sans ExtraBold"/>
                          <a:cs typeface="Plus Jakarta Sans ExtraBold"/>
                        </a:rPr>
                        <a:t>−3.1%</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030A17"/>
                          </a:solidFill>
                          <a:latin typeface="Plus Jakarta Sans ExtraBold"/>
                          <a:cs typeface="Plus Jakarta Sans ExtraBold"/>
                        </a:rPr>
                        <a:t>Net Operating Income</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1,258,217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1,296,013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37,796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3.0%</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10,301,596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10,574,558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272,962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1E7A2A"/>
                          </a:solidFill>
                          <a:latin typeface="Plus Jakarta Sans ExtraBold"/>
                          <a:cs typeface="Plus Jakarta Sans ExtraBold"/>
                        </a:rPr>
                        <a:t>2.6%</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15,621,769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15,961,012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339,243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1E7A2A"/>
                          </a:solidFill>
                          <a:latin typeface="Plus Jakarta Sans ExtraBold"/>
                          <a:cs typeface="Plus Jakarta Sans ExtraBold"/>
                        </a:rPr>
                        <a:t>2.2%</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990"/>
                        </a:lnSpc>
                      </a:pPr>
                      <a:r>
                        <a:rPr sz="825" b="0">
                          <a:solidFill>
                            <a:srgbClr val="999999"/>
                          </a:solidFill>
                          <a:latin typeface="Plus Jakarta Sans Medium"/>
                          <a:cs typeface="Plus Jakarta Sans Medium"/>
                        </a:rPr>
                        <a:t>% of Revenue</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90"/>
                        </a:lnSpc>
                      </a:pPr>
                      <a:r>
                        <a:rPr sz="825" b="0">
                          <a:solidFill>
                            <a:srgbClr val="999999"/>
                          </a:solidFill>
                          <a:latin typeface="Plus Jakarta Sans Medium"/>
                          <a:cs typeface="Plus Jakarta Sans Medium"/>
                        </a:rPr>
                        <a:t>65.5%</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66.2%</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0.7%</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67.0%</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67.1%</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0.1%</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67.5%</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67.3%</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(0.2)%</a:t>
                      </a:r>
                      <a:endParaRPr sz="82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7F9FC"/>
                    </a:solidFill>
                  </a:tcPr>
                </a:tc>
              </a:tr>
              <a:tr h="142875">
                <a:tc>
                  <a:txBody>
                    <a:bodyPr/>
                    <a:lstStyle/>
                    <a:p>
                      <a:pPr algn="l">
                        <a:lnSpc>
                          <a:spcPts val="846"/>
                        </a:lnSpc>
                      </a:pPr>
                      <a:r>
                        <a:rPr sz="705" b="0">
                          <a:solidFill>
                            <a:srgbClr val="555555"/>
                          </a:solidFill>
                          <a:latin typeface="Plus Jakarta Sans SemiBold"/>
                          <a:cs typeface="Plus Jakarta Sans SemiBold"/>
                        </a:rPr>
                        <a:t>SG&amp;A</a:t>
                      </a:r>
                      <a:endParaRPr sz="705" lang="en-US"/>
                    </a:p>
                  </a:txBody>
                  <a:tcPr marL="39052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846"/>
                        </a:lnSpc>
                      </a:pPr>
                      <a:r>
                        <a:rPr sz="705" b="0">
                          <a:solidFill>
                            <a:srgbClr val="030A17"/>
                          </a:solidFill>
                          <a:latin typeface="Plus Jakarta Sans Medium"/>
                          <a:cs typeface="Plus Jakarta Sans Medium"/>
                        </a:rPr>
                        <a:t>40,865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846"/>
                        </a:lnSpc>
                      </a:pPr>
                      <a:r>
                        <a:rPr sz="705" b="0">
                          <a:solidFill>
                            <a:srgbClr val="030A17"/>
                          </a:solidFill>
                          <a:latin typeface="Plus Jakarta Sans Medium"/>
                          <a:cs typeface="Plus Jakarta Sans Medium"/>
                        </a:rPr>
                        <a:t>52,435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(11,570)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773"/>
                        </a:lnSpc>
                      </a:pPr>
                      <a:r>
                        <a:rPr sz="644" b="1">
                          <a:solidFill>
                            <a:srgbClr val="A32318"/>
                          </a:solidFill>
                          <a:latin typeface="Plus Jakarta Sans"/>
                          <a:cs typeface="Plus Jakarta Sans"/>
                        </a:rPr>
                        <a:t>−28.3%</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323,057</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846"/>
                        </a:lnSpc>
                      </a:pPr>
                      <a:r>
                        <a:rPr sz="705" b="0">
                          <a:solidFill>
                            <a:srgbClr val="030A17"/>
                          </a:solidFill>
                          <a:latin typeface="Plus Jakarta Sans Medium"/>
                          <a:cs typeface="Plus Jakarta Sans Medium"/>
                        </a:rPr>
                        <a:t>396,309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(73,252)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5F8FE"/>
                    </a:solidFill>
                  </a:tcPr>
                </a:tc>
                <a:tc>
                  <a:txBody>
                    <a:bodyPr/>
                    <a:lstStyle/>
                    <a:p>
                      <a:pPr algn="r">
                        <a:lnSpc>
                          <a:spcPts val="773"/>
                        </a:lnSpc>
                      </a:pPr>
                      <a:r>
                        <a:rPr sz="644" b="1">
                          <a:solidFill>
                            <a:srgbClr val="A32318"/>
                          </a:solidFill>
                          <a:latin typeface="Plus Jakarta Sans"/>
                          <a:cs typeface="Plus Jakarta Sans"/>
                        </a:rPr>
                        <a:t>−22.7%</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BDAD6"/>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030A17"/>
                          </a:solidFill>
                          <a:latin typeface="Plus Jakarta Sans Medium"/>
                          <a:cs typeface="Plus Jakarta Sans Medium"/>
                        </a:rPr>
                        <a:t>488,094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r">
                        <a:lnSpc>
                          <a:spcPts val="846"/>
                        </a:lnSpc>
                      </a:pPr>
                      <a:r>
                        <a:rPr sz="705" b="0">
                          <a:solidFill>
                            <a:srgbClr val="030A17"/>
                          </a:solidFill>
                          <a:latin typeface="Plus Jakarta Sans Medium"/>
                          <a:cs typeface="Plus Jakarta Sans Medium"/>
                        </a:rPr>
                        <a:t>563,933</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FFFFF"/>
                    </a:solidFill>
                  </a:tcPr>
                </a:tc>
                <a:tc>
                  <a:txBody>
                    <a:bodyPr/>
                    <a:lstStyle/>
                    <a:p>
                      <a:pPr algn="r">
                        <a:lnSpc>
                          <a:spcPts val="846"/>
                        </a:lnSpc>
                      </a:pPr>
                      <a:r>
                        <a:rPr sz="705" b="0">
                          <a:solidFill>
                            <a:srgbClr val="C1291C"/>
                          </a:solidFill>
                          <a:latin typeface="Plus Jakarta Sans Medium"/>
                          <a:cs typeface="Plus Jakarta Sans Medium"/>
                        </a:rPr>
                        <a:t>(75,839)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7F9FC"/>
                    </a:solidFill>
                  </a:tcPr>
                </a:tc>
                <a:tc>
                  <a:txBody>
                    <a:bodyPr/>
                    <a:lstStyle/>
                    <a:p>
                      <a:pPr algn="r">
                        <a:lnSpc>
                          <a:spcPts val="773"/>
                        </a:lnSpc>
                      </a:pPr>
                      <a:r>
                        <a:rPr sz="644" b="1">
                          <a:solidFill>
                            <a:srgbClr val="A32318"/>
                          </a:solidFill>
                          <a:latin typeface="Plus Jakarta Sans"/>
                          <a:cs typeface="Plus Jakarta Sans"/>
                        </a:rPr>
                        <a:t>−15.5%</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FBDAD6"/>
                    </a:solidFill>
                  </a:tcPr>
                </a:tc>
              </a:tr>
              <a:tr h="142875">
                <a:tc>
                  <a:txBody>
                    <a:bodyPr/>
                    <a:lstStyle/>
                    <a:p>
                      <a:pPr algn="l">
                        <a:lnSpc>
                          <a:spcPts val="846"/>
                        </a:lnSpc>
                      </a:pPr>
                      <a:r>
                        <a:rPr sz="705" b="0">
                          <a:solidFill>
                            <a:srgbClr val="030A17"/>
                          </a:solidFill>
                          <a:latin typeface="Plus Jakarta Sans ExtraBold"/>
                          <a:cs typeface="Plus Jakarta Sans ExtraBold"/>
                        </a:rPr>
                        <a:t>Adjusted EBITDA</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1,217,352</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846"/>
                        </a:lnSpc>
                      </a:pPr>
                      <a:r>
                        <a:rPr sz="705" b="0">
                          <a:solidFill>
                            <a:srgbClr val="030A17"/>
                          </a:solidFill>
                          <a:latin typeface="Plus Jakarta Sans ExtraBold"/>
                          <a:cs typeface="Plus Jakarta Sans ExtraBold"/>
                        </a:rPr>
                        <a:t>1,243,578</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26,226</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773"/>
                        </a:lnSpc>
                      </a:pPr>
                      <a:r>
                        <a:rPr sz="644" b="0">
                          <a:solidFill>
                            <a:srgbClr val="1E7A2A"/>
                          </a:solidFill>
                          <a:latin typeface="Plus Jakarta Sans ExtraBold"/>
                          <a:cs typeface="Plus Jakarta Sans ExtraBold"/>
                        </a:rPr>
                        <a:t>2.2%</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9,978,539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846"/>
                        </a:lnSpc>
                      </a:pPr>
                      <a:r>
                        <a:rPr sz="705" b="0">
                          <a:solidFill>
                            <a:srgbClr val="030A17"/>
                          </a:solidFill>
                          <a:latin typeface="Plus Jakarta Sans ExtraBold"/>
                          <a:cs typeface="Plus Jakarta Sans ExtraBold"/>
                        </a:rPr>
                        <a:t>10,178,249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199,710</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9F0FF"/>
                    </a:solidFill>
                  </a:tcPr>
                </a:tc>
                <a:tc>
                  <a:txBody>
                    <a:bodyPr/>
                    <a:lstStyle/>
                    <a:p>
                      <a:pPr algn="r">
                        <a:lnSpc>
                          <a:spcPts val="773"/>
                        </a:lnSpc>
                      </a:pPr>
                      <a:r>
                        <a:rPr sz="644" b="0">
                          <a:solidFill>
                            <a:srgbClr val="1E7A2A"/>
                          </a:solidFill>
                          <a:latin typeface="Plus Jakarta Sans ExtraBold"/>
                          <a:cs typeface="Plus Jakarta Sans ExtraBold"/>
                        </a:rPr>
                        <a:t>2.0%</a:t>
                      </a:r>
                      <a:endParaRPr sz="64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F3E4"/>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15,133,675</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r">
                        <a:lnSpc>
                          <a:spcPts val="846"/>
                        </a:lnSpc>
                      </a:pPr>
                      <a:r>
                        <a:rPr sz="705" b="0">
                          <a:solidFill>
                            <a:srgbClr val="030A17"/>
                          </a:solidFill>
                          <a:latin typeface="Plus Jakarta Sans ExtraBold"/>
                          <a:cs typeface="Plus Jakarta Sans ExtraBold"/>
                        </a:rPr>
                        <a:t>15,397,079</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2ECFF"/>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9525" cap="flat" cmpd="sng" algn="ctr">
                      <a:solidFill>
                        <a:srgbClr val="EDEFF2"/>
                      </a:solidFill>
                    </a:lnB>
                    <a:solidFill>
                      <a:srgbClr val="F1F6FF"/>
                    </a:solidFill>
                  </a:tcPr>
                </a:tc>
                <a:tc>
                  <a:txBody>
                    <a:bodyPr/>
                    <a:lstStyle/>
                    <a:p>
                      <a:pPr algn="r">
                        <a:lnSpc>
                          <a:spcPts val="846"/>
                        </a:lnSpc>
                      </a:pPr>
                      <a:r>
                        <a:rPr sz="705" b="0">
                          <a:solidFill>
                            <a:srgbClr val="030A17"/>
                          </a:solidFill>
                          <a:latin typeface="Plus Jakarta Sans ExtraBold"/>
                          <a:cs typeface="Plus Jakarta Sans ExtraBold"/>
                        </a:rPr>
                        <a:t>263,404</a:t>
                      </a:r>
                      <a:endParaRPr sz="705" lang="en-US"/>
                    </a:p>
                  </a:txBody>
                  <a:tcPr marL="104775" marR="10477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EAF0F9"/>
                    </a:solidFill>
                  </a:tcPr>
                </a:tc>
                <a:tc>
                  <a:txBody>
                    <a:bodyPr/>
                    <a:lstStyle/>
                    <a:p>
                      <a:pPr algn="r">
                        <a:lnSpc>
                          <a:spcPts val="773"/>
                        </a:lnSpc>
                      </a:pPr>
                      <a:r>
                        <a:rPr sz="644" b="0">
                          <a:solidFill>
                            <a:srgbClr val="1E7A2A"/>
                          </a:solidFill>
                          <a:latin typeface="Plus Jakarta Sans ExtraBold"/>
                          <a:cs typeface="Plus Jakarta Sans ExtraBold"/>
                        </a:rPr>
                        <a:t>1.7%</a:t>
                      </a:r>
                      <a:endParaRPr sz="645" lang="en-US"/>
                    </a:p>
                  </a:txBody>
                  <a:tcPr marL="104775" marR="104775" marT="0" marB="0" anchor="ctr">
                    <a:lnL w="0" cap="flat" cmpd="sng" algn="ctr">
                      <a:noFill/>
                    </a:lnL>
                    <a:lnR w="0" cap="flat" cmpd="sng" algn="ctr">
                      <a:noFill/>
                    </a:lnR>
                    <a:lnT w="0" cap="flat" cmpd="sng" algn="ctr">
                      <a:noFill/>
                    </a:lnT>
                    <a:lnB w="9525" cap="flat" cmpd="sng" algn="ctr">
                      <a:solidFill>
                        <a:srgbClr val="EDEFF2"/>
                      </a:solidFill>
                    </a:lnB>
                    <a:solidFill>
                      <a:srgbClr val="E2F3E4"/>
                    </a:solidFill>
                  </a:tcPr>
                </a:tc>
              </a:tr>
              <a:tr h="142875">
                <a:tc>
                  <a:txBody>
                    <a:bodyPr/>
                    <a:lstStyle/>
                    <a:p>
                      <a:pPr algn="l">
                        <a:lnSpc>
                          <a:spcPts val="990"/>
                        </a:lnSpc>
                      </a:pPr>
                      <a:r>
                        <a:rPr sz="825" b="0">
                          <a:solidFill>
                            <a:srgbClr val="999999"/>
                          </a:solidFill>
                          <a:latin typeface="Plus Jakarta Sans Medium"/>
                          <a:cs typeface="Plus Jakarta Sans Medium"/>
                        </a:rPr>
                        <a:t>% of Revenue</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CFCFD"/>
                    </a:solidFill>
                  </a:tcPr>
                </a:tc>
                <a:tc>
                  <a:txBody>
                    <a:bodyPr/>
                    <a:lstStyle/>
                    <a:p>
                      <a:pPr algn="r">
                        <a:lnSpc>
                          <a:spcPts val="990"/>
                        </a:lnSpc>
                      </a:pPr>
                      <a:r>
                        <a:rPr sz="825" b="0">
                          <a:solidFill>
                            <a:srgbClr val="999999"/>
                          </a:solidFill>
                          <a:latin typeface="Plus Jakarta Sans Medium"/>
                          <a:cs typeface="Plus Jakarta Sans Medium"/>
                        </a:rPr>
                        <a:t>63.3%</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63.5%</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0.2%</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64.9%</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64.6%</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(0.3)%</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5F8FE"/>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65.4%</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r">
                        <a:lnSpc>
                          <a:spcPts val="990"/>
                        </a:lnSpc>
                      </a:pPr>
                      <a:r>
                        <a:rPr sz="825" b="0">
                          <a:solidFill>
                            <a:srgbClr val="999999"/>
                          </a:solidFill>
                          <a:latin typeface="Plus Jakarta Sans Medium"/>
                          <a:cs typeface="Plus Jakarta Sans Medium"/>
                        </a:rPr>
                        <a:t>64.9%</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AFBFD"/>
                    </a:solidFill>
                  </a:tcPr>
                </a:tc>
                <a:tc>
                  <a:txBody>
                    <a:bodyPr/>
                    <a:lstStyle/>
                    <a:p>
                      <a:pPr algn="l">
                        <a:lnSpc>
                          <a:spcPts val="846"/>
                        </a:lnSpc>
                      </a:pPr>
                      <a:r>
                        <a:rPr sz="705" b="0">
                          <a:solidFill>
                            <a:srgbClr val="030A17"/>
                          </a:solidFill>
                          <a:latin typeface="Plus Jakarta Sans Medium"/>
                          <a:cs typeface="Plus Jakarta Sans Medium"/>
                        </a:rPr>
                        <a:t> </a:t>
                      </a:r>
                      <a:endParaRPr sz="705" lang="en-US"/>
                    </a:p>
                  </a:txBody>
                  <a:tcPr marL="0" marR="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a:lnSpc>
                          <a:spcPts val="990"/>
                        </a:lnSpc>
                      </a:pPr>
                      <a:r>
                        <a:rPr sz="825" b="0">
                          <a:solidFill>
                            <a:srgbClr val="999999"/>
                          </a:solidFill>
                          <a:latin typeface="Plus Jakarta Sans Medium"/>
                          <a:cs typeface="Plus Jakarta Sans Medium"/>
                        </a:rPr>
                        <a:t>(0.5)%</a:t>
                      </a:r>
                      <a:endParaRPr sz="825" lang="en-US"/>
                    </a:p>
                  </a:txBody>
                  <a:tcPr marL="104775" marR="104775" marT="0" marB="0" anchor="ctr">
                    <a:lnL w="0" cap="flat" cmpd="sng" algn="ctr">
                      <a:noFill/>
                    </a:lnL>
                    <a:lnR w="9525" cap="flat" cmpd="sng" algn="ctr">
                      <a:solidFill>
                        <a:srgbClr val="EDEFF2"/>
                      </a:solidFill>
                    </a:lnR>
                    <a:lnT w="0" cap="flat" cmpd="sng" algn="ctr">
                      <a:noFill/>
                    </a:lnT>
                    <a:lnB w="0" cap="flat" cmpd="sng" algn="ctr">
                      <a:noFill/>
                    </a:lnB>
                    <a:solidFill>
                      <a:srgbClr val="F7F9FC"/>
                    </a:solidFill>
                  </a:tcPr>
                </a:tc>
                <a:tc>
                  <a:txBody>
                    <a:bodyPr/>
                    <a:lstStyle/>
                    <a:p>
                      <a:pPr algn="r">
                        <a:lnSpc>
                          <a:spcPts val="990"/>
                        </a:lnSpc>
                      </a:pPr>
                      <a:r>
                        <a:rPr sz="825" b="0">
                          <a:solidFill>
                            <a:srgbClr val="999999"/>
                          </a:solidFill>
                          <a:latin typeface="Plus Jakarta Sans Medium"/>
                          <a:cs typeface="Plus Jakarta Sans Medium"/>
                        </a:rPr>
                        <a:t> </a:t>
                      </a:r>
                      <a:endParaRPr sz="825" lang="en-US"/>
                    </a:p>
                  </a:txBody>
                  <a:tcPr marL="104775" marR="104775" marT="0" marB="0" anchor="ctr">
                    <a:lnL w="0" cap="flat" cmpd="sng" algn="ctr">
                      <a:noFill/>
                    </a:lnL>
                    <a:lnR w="0" cap="flat" cmpd="sng" algn="ctr">
                      <a:noFill/>
                    </a:lnR>
                    <a:lnT w="0" cap="flat" cmpd="sng" algn="ctr">
                      <a:noFill/>
                    </a:lnT>
                    <a:lnB w="0" cap="flat" cmpd="sng" algn="ctr">
                      <a:noFill/>
                    </a:lnB>
                    <a:solidFill>
                      <a:srgbClr val="F7F9FC"/>
                    </a:solidFill>
                  </a:tcPr>
                </a:tc>
              </a:tr>
            </a:tbl>
          </a:graphicData>
        </a:graphic>
      </p:graphicFrame>
      <p:sp>
        <p:nvSpPr>
          <p:cNvPr id="8" name="Oval 7"/>
          <p:cNvSpPr/>
          <p:nvPr/>
        </p:nvSpPr>
        <p:spPr>
          <a:xfrm>
            <a:off x="514350" y="55959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 y="55340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NOI margin 66.2% MTD, up 72 bps, with costs down $1.5K to $662K</a:t>
            </a:r>
            <a:endParaRPr sz="900" lang="en-US"/>
          </a:p>
        </p:txBody>
      </p:sp>
      <p:sp>
        <p:nvSpPr>
          <p:cNvPr id="10" name="Oval 9"/>
          <p:cNvSpPr/>
          <p:nvPr/>
        </p:nvSpPr>
        <p:spPr>
          <a:xfrm>
            <a:off x="514350" y="57864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57245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Property taxes +$18.3K MTD and +$102.4K YTD carry the cost increase</a:t>
            </a:r>
            <a:endParaRPr sz="900" lang="en-US"/>
          </a:p>
        </p:txBody>
      </p:sp>
      <p:sp>
        <p:nvSpPr>
          <p:cNvPr id="12" name="Oval 11"/>
          <p:cNvSpPr/>
          <p:nvPr/>
        </p:nvSpPr>
        <p:spPr>
          <a:xfrm>
            <a:off x="6276975" y="55959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0325" y="55340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Site maintenance −$23.3K MTD and $19.3K favourable YTD</a:t>
            </a:r>
            <a:endParaRPr sz="900" lang="en-US"/>
          </a:p>
        </p:txBody>
      </p:sp>
      <p:sp>
        <p:nvSpPr>
          <p:cNvPr id="14" name="Oval 13"/>
          <p:cNvSpPr/>
          <p:nvPr/>
        </p:nvSpPr>
        <p:spPr>
          <a:xfrm>
            <a:off x="6276975" y="578643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0325" y="572452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FY forecast EBITDA $15.40M at a 64.9% margin against 65.4% in 2025</a:t>
            </a:r>
            <a:endParaRPr sz="900" lang="en-US"/>
          </a:p>
        </p:txBody>
      </p:sp>
      <p:sp>
        <p:nvSpPr>
          <p:cNvPr id="16" name="Rounded Rectangle 15"/>
          <p:cNvSpPr/>
          <p:nvPr/>
        </p:nvSpPr>
        <p:spPr>
          <a:xfrm>
            <a:off x="495300" y="6000750"/>
            <a:ext cx="11201400" cy="438150"/>
          </a:xfrm>
          <a:prstGeom prst="roundRect">
            <a:avLst>
              <a:gd name="adj" fmla="val 17391"/>
            </a:avLst>
          </a:prstGeom>
          <a:solidFill>
            <a:srgbClr val="1767FF"/>
          </a:solidFill>
          <a:ln>
            <a:noFill/>
          </a:ln>
          <a:effectLst/>
        </p:spPr>
        <p:txBody>
          <a:bodyPr rtlCol="0" anchor="ctr"/>
          <a:lstStyle/>
          <a:p/>
        </p:txBody>
      </p:sp>
      <p:sp>
        <p:nvSpPr>
          <p:cNvPr id="17" name="TextBox 16"/>
          <p:cNvSpPr txBox="1"/>
          <p:nvPr/>
        </p:nvSpPr>
        <p:spPr>
          <a:xfrm>
            <a:off x="685800" y="6115050"/>
            <a:ext cx="10820400" cy="209550"/>
          </a:xfrm>
          <a:prstGeom prst="rect">
            <a:avLst/>
          </a:prstGeom>
          <a:noFill/>
        </p:spPr>
        <p:txBody>
          <a:bodyPr wrap="square" lIns="0" rIns="0" tIns="0" bIns="0" anchor="ctr">
            <a:spAutoFit/>
          </a:bodyPr>
          <a:lstStyle/>
          <a:p>
            <a:pPr algn="l">
              <a:lnSpc>
                <a:spcPts val="1650"/>
              </a:lnSpc>
            </a:pPr>
            <a:r>
              <a:rPr sz="1125" b="1" spc="-22">
                <a:solidFill>
                  <a:srgbClr val="FFFFFF"/>
                </a:solidFill>
                <a:latin typeface="Plus Jakarta Sans"/>
                <a:cs typeface="Plus Jakarta Sans"/>
              </a:rPr>
              <a:t>Same store revenue +1.9% MTD and +2.5% YTD, below the whole portfolio once lease-up is removed.</a:t>
            </a:r>
            <a:endParaRPr sz="1125" lang="en-US"/>
          </a:p>
        </p:txBody>
      </p:sp>
      <p:sp>
        <p:nvSpPr>
          <p:cNvPr id="18" name="TextBox 17"/>
          <p:cNvSpPr txBox="1"/>
          <p:nvPr/>
        </p:nvSpPr>
        <p:spPr>
          <a:xfrm>
            <a:off x="495300" y="6572250"/>
            <a:ext cx="2857500" cy="133350"/>
          </a:xfrm>
          <a:prstGeom prst="rect">
            <a:avLst/>
          </a:prstGeom>
          <a:noFill/>
        </p:spPr>
        <p:txBody>
          <a:bodyPr wrap="square" lIns="0" rIns="0" tIns="0" bIns="0" anchor="t">
            <a:spAutoFit/>
          </a:bodyPr>
          <a:lstStyle/>
          <a:p>
            <a:pPr algn="l"/>
            <a:r>
              <a:rPr sz="750" b="0">
                <a:solidFill>
                  <a:srgbClr val="9AA1AA"/>
                </a:solidFill>
                <a:latin typeface="Plus Jakarta Sans Medium"/>
                <a:cs typeface="Plus Jakarta Sans Medium"/>
              </a:rPr>
              <a:t>© RecNation Storage 2026 All rights reserved</a:t>
            </a:r>
            <a:endParaRPr sz="750" lang="en-US"/>
          </a:p>
        </p:txBody>
      </p:sp>
      <p:sp>
        <p:nvSpPr>
          <p:cNvPr id="19" name="TextBox 18"/>
          <p:cNvSpPr txBox="1"/>
          <p:nvPr/>
        </p:nvSpPr>
        <p:spPr>
          <a:xfrm>
            <a:off x="3352800" y="6572250"/>
            <a:ext cx="7962900" cy="133350"/>
          </a:xfrm>
          <a:prstGeom prst="rect">
            <a:avLst/>
          </a:prstGeom>
          <a:noFill/>
        </p:spPr>
        <p:txBody>
          <a:bodyPr wrap="square" lIns="0" rIns="0" tIns="0" bIns="0" anchor="t">
            <a:spAutoFit/>
          </a:bodyPr>
          <a:lstStyle/>
          <a:p>
            <a:pPr algn="r"/>
            <a:r>
              <a:rPr sz="750" b="0">
                <a:solidFill>
                  <a:srgbClr val="9AA1AA"/>
                </a:solidFill>
                <a:latin typeface="Plus Jakarta Sans Medium"/>
                <a:cs typeface="Plus Jakarta Sans Medium"/>
              </a:rPr>
              <a:t>Source: Planful via BigQuery (recnation-analytics.planful) · 8+4 forecast · costs shown favourable-positive</a:t>
            </a:r>
            <a:endParaRPr sz="750" lang="en-US"/>
          </a:p>
        </p:txBody>
      </p:sp>
      <p:sp>
        <p:nvSpPr>
          <p:cNvPr id="20" name="TextBox 19"/>
          <p:cNvSpPr txBox="1"/>
          <p:nvPr/>
        </p:nvSpPr>
        <p:spPr>
          <a:xfrm>
            <a:off x="11410950" y="6572250"/>
            <a:ext cx="285750" cy="133350"/>
          </a:xfrm>
          <a:prstGeom prst="rect">
            <a:avLst/>
          </a:prstGeom>
          <a:noFill/>
        </p:spPr>
        <p:txBody>
          <a:bodyPr wrap="square" lIns="0" rIns="0" tIns="0" bIns="0" anchor="t">
            <a:spAutoFit/>
          </a:bodyPr>
          <a:lstStyle/>
          <a:p>
            <a:pPr algn="r"/>
            <a:r>
              <a:rPr sz="712" b="1">
                <a:solidFill>
                  <a:srgbClr val="6B7178"/>
                </a:solidFill>
                <a:latin typeface="Plus Jakarta Sans"/>
                <a:cs typeface="Plus Jakarta Sans"/>
              </a:rPr>
              <a:t>4</a:t>
            </a:r>
            <a:endParaRPr sz="712"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300" y="381000"/>
            <a:ext cx="7620000" cy="152400"/>
          </a:xfrm>
          <a:prstGeom prst="rect">
            <a:avLst/>
          </a:prstGeom>
          <a:noFill/>
        </p:spPr>
        <p:txBody>
          <a:bodyPr wrap="square" lIns="0" rIns="0" tIns="0" bIns="0" anchor="t">
            <a:spAutoFit/>
          </a:bodyPr>
          <a:lstStyle/>
          <a:p>
            <a:pPr algn="l"/>
            <a:r>
              <a:rPr sz="900" b="1">
                <a:solidFill>
                  <a:srgbClr val="1767FF"/>
                </a:solidFill>
                <a:latin typeface="Plus Jakarta Sans"/>
                <a:cs typeface="Plus Jakarta Sans"/>
              </a:rPr>
              <a:t>Collections</a:t>
            </a:r>
            <a:endParaRPr sz="900" lang="en-US"/>
          </a:p>
        </p:txBody>
      </p:sp>
      <p:sp>
        <p:nvSpPr>
          <p:cNvPr id="3" name="TextBox 2"/>
          <p:cNvSpPr txBox="1"/>
          <p:nvPr/>
        </p:nvSpPr>
        <p:spPr>
          <a:xfrm>
            <a:off x="495300" y="552450"/>
            <a:ext cx="9963150" cy="361950"/>
          </a:xfrm>
          <a:prstGeom prst="rect">
            <a:avLst/>
          </a:prstGeom>
          <a:noFill/>
        </p:spPr>
        <p:txBody>
          <a:bodyPr wrap="square" lIns="0" rIns="0" tIns="0" bIns="0" anchor="t">
            <a:spAutoFit/>
          </a:bodyPr>
          <a:lstStyle/>
          <a:p>
            <a:pPr algn="l"/>
            <a:r>
              <a:rPr sz="2250" b="0" spc="-45">
                <a:solidFill>
                  <a:srgbClr val="030A17"/>
                </a:solidFill>
                <a:latin typeface="Plus Jakarta Sans ExtraBold"/>
                <a:cs typeface="Plus Jakarta Sans ExtraBold"/>
              </a:rPr>
              <a:t>Collection Performance</a:t>
            </a:r>
            <a:endParaRPr sz="2250" lang="en-US"/>
          </a:p>
        </p:txBody>
      </p:sp>
      <p:pic>
        <p:nvPicPr>
          <p:cNvPr id="4" name="Picture 3" descr="logo-colour.png"/>
          <p:cNvPicPr>
            <a:picLocks noChangeAspect="1"/>
          </p:cNvPicPr>
          <p:nvPr/>
        </p:nvPicPr>
        <p:blipFill>
          <a:blip r:embed="rId2"/>
          <a:stretch>
            <a:fillRect/>
          </a:stretch>
        </p:blipFill>
        <p:spPr>
          <a:xfrm>
            <a:off x="10810875" y="485775"/>
            <a:ext cx="781050" cy="401557"/>
          </a:xfrm>
          <a:prstGeom prst="rect">
            <a:avLst/>
          </a:prstGeom>
        </p:spPr>
      </p:pic>
      <p:sp>
        <p:nvSpPr>
          <p:cNvPr id="5" name="TextBox 4"/>
          <p:cNvSpPr txBox="1"/>
          <p:nvPr/>
        </p:nvSpPr>
        <p:spPr>
          <a:xfrm>
            <a:off x="495300" y="1390650"/>
            <a:ext cx="11201400" cy="161925"/>
          </a:xfrm>
          <a:prstGeom prst="rect">
            <a:avLst/>
          </a:prstGeom>
          <a:noFill/>
        </p:spPr>
        <p:txBody>
          <a:bodyPr wrap="square" lIns="0" rIns="0" tIns="0" bIns="0" anchor="t">
            <a:spAutoFit/>
          </a:bodyPr>
          <a:lstStyle/>
          <a:p>
            <a:pPr algn="l"/>
            <a:r>
              <a:rPr sz="862" b="0">
                <a:solidFill>
                  <a:srgbClr val="0E2A44"/>
                </a:solidFill>
                <a:latin typeface="Plus Jakarta Sans ExtraBold"/>
                <a:cs typeface="Plus Jakarta Sans ExtraBold"/>
              </a:rPr>
              <a:t>Collections Performance By Year</a:t>
            </a:r>
            <a:endParaRPr sz="862" lang="en-US"/>
          </a:p>
        </p:txBody>
      </p:sp>
      <p:sp>
        <p:nvSpPr>
          <p:cNvPr id="6" name="Rounded Rectangle 5"/>
          <p:cNvSpPr/>
          <p:nvPr/>
        </p:nvSpPr>
        <p:spPr>
          <a:xfrm>
            <a:off x="495300" y="1609725"/>
            <a:ext cx="11201400" cy="1276350"/>
          </a:xfrm>
          <a:prstGeom prst="roundRect">
            <a:avLst>
              <a:gd name="adj" fmla="val 5970"/>
            </a:avLst>
          </a:prstGeom>
          <a:solidFill>
            <a:srgbClr val="FFFFFF"/>
          </a:solidFill>
          <a:ln w="9525">
            <a:solidFill>
              <a:srgbClr val="E9E9E9"/>
            </a:solidFill>
          </a:ln>
          <a:effectLst>
            <a:outerShdw blurRad="95250" dist="28575" dir="5400000" algn="t" rotWithShape="0">
              <a:srgbClr val="001A4A">
                <a:alpha val="4000"/>
              </a:srgbClr>
            </a:outerShdw>
          </a:effectLst>
        </p:spPr>
        <p:txBody>
          <a:bodyPr rtlCol="0" anchor="ctr"/>
          <a:lstStyle/>
          <a:p/>
        </p:txBody>
      </p:sp>
      <p:graphicFrame>
        <p:nvGraphicFramePr>
          <p:cNvPr id="7" name="Table 6"/>
          <p:cNvGraphicFramePr>
            <a:graphicFrameLocks noGrp="1"/>
          </p:cNvGraphicFramePr>
          <p:nvPr/>
        </p:nvGraphicFramePr>
        <p:xfrm>
          <a:off x="504825" y="1619250"/>
          <a:ext cx="11182350" cy="1257300"/>
        </p:xfrm>
        <a:graphic>
          <a:graphicData uri="http://schemas.openxmlformats.org/drawingml/2006/table">
            <a:tbl>
              <a:tblPr firstRow="0" bandRow="0" firstCol="0" lastRow="0" lastCol="0" bandCol="0">
                <a:tableStyleId>{5940675A-B579-460E-94D1-54222C63F5DA}</a:tableStyleId>
              </a:tblPr>
              <a:tblGrid>
                <a:gridCol w="1212014"/>
                <a:gridCol w="1737117"/>
                <a:gridCol w="1466362"/>
                <a:gridCol w="1305181"/>
                <a:gridCol w="1491886"/>
                <a:gridCol w="1116355"/>
                <a:gridCol w="1228609"/>
                <a:gridCol w="1624826"/>
              </a:tblGrid>
              <a:tr h="228600">
                <a:tc>
                  <a:txBody>
                    <a:bodyPr/>
                    <a:lstStyle/>
                    <a:p>
                      <a:pPr algn="l">
                        <a:lnSpc>
                          <a:spcPts val="846"/>
                        </a:lnSpc>
                      </a:pPr>
                      <a:r>
                        <a:rPr sz="705" b="1">
                          <a:solidFill>
                            <a:srgbClr val="6B7178"/>
                          </a:solidFill>
                          <a:latin typeface="Plus Jakarta Sans"/>
                          <a:cs typeface="Plus Jakarta Sans"/>
                        </a:rPr>
                        <a:t>Year</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Net Revenue As Corrected</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Bad Debt Allowance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Actual Write offs</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Change in Allowance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Total Impact</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Gross Revenue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Impact as % of Revenue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r>
              <a:tr h="171450">
                <a:tc>
                  <a:txBody>
                    <a:bodyPr/>
                    <a:lstStyle/>
                    <a:p>
                      <a:pPr algn="l">
                        <a:lnSpc>
                          <a:spcPts val="936"/>
                        </a:lnSpc>
                      </a:pPr>
                      <a:r>
                        <a:rPr sz="780" b="0">
                          <a:solidFill>
                            <a:srgbClr val="030A17"/>
                          </a:solidFill>
                          <a:latin typeface="Plus Jakarta Sans SemiBold"/>
                          <a:cs typeface="Plus Jakarta Sans SemiBold"/>
                        </a:rPr>
                        <a:t>2022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10,914,461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135,468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84,492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37,847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122,339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11,036,800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256B2C"/>
                          </a:solidFill>
                          <a:latin typeface="Plus Jakarta Sans"/>
                          <a:cs typeface="Plus Jakarta Sans"/>
                        </a:rPr>
                        <a:t>1.11%</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D4EED9"/>
                    </a:solidFill>
                  </a:tcPr>
                </a:tc>
              </a:tr>
              <a:tr h="171450">
                <a:tc>
                  <a:txBody>
                    <a:bodyPr/>
                    <a:lstStyle/>
                    <a:p>
                      <a:pPr algn="l">
                        <a:lnSpc>
                          <a:spcPts val="936"/>
                        </a:lnSpc>
                      </a:pPr>
                      <a:r>
                        <a:rPr sz="780" b="0">
                          <a:solidFill>
                            <a:srgbClr val="030A17"/>
                          </a:solidFill>
                          <a:latin typeface="Plus Jakarta Sans SemiBold"/>
                          <a:cs typeface="Plus Jakarta Sans SemiBold"/>
                        </a:rPr>
                        <a:t>2023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25,388,889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407,967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196,781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104,853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301,633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25,690,523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256B2C"/>
                          </a:solidFill>
                          <a:latin typeface="Plus Jakarta Sans"/>
                          <a:cs typeface="Plus Jakarta Sans"/>
                        </a:rPr>
                        <a:t>1.17%</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D4EED9"/>
                    </a:solidFill>
                  </a:tcPr>
                </a:tc>
              </a:tr>
              <a:tr h="171450">
                <a:tc>
                  <a:txBody>
                    <a:bodyPr/>
                    <a:lstStyle/>
                    <a:p>
                      <a:pPr algn="l">
                        <a:lnSpc>
                          <a:spcPts val="936"/>
                        </a:lnSpc>
                      </a:pPr>
                      <a:r>
                        <a:rPr sz="780" b="0">
                          <a:solidFill>
                            <a:srgbClr val="030A17"/>
                          </a:solidFill>
                          <a:latin typeface="Plus Jakarta Sans SemiBold"/>
                          <a:cs typeface="Plus Jakarta Sans SemiBold"/>
                        </a:rPr>
                        <a:t>2024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32,332,999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2,133,684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406,059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C1291C"/>
                          </a:solidFill>
                          <a:latin typeface="Plus Jakarta Sans Medium"/>
                          <a:cs typeface="Plus Jakarta Sans Medium"/>
                        </a:rPr>
                        <a:t>(198,206)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207,853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32,540,852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0F5218"/>
                          </a:solidFill>
                          <a:latin typeface="Plus Jakarta Sans"/>
                          <a:cs typeface="Plus Jakarta Sans"/>
                        </a:rPr>
                        <a:t>0.64%</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AEE0B7"/>
                    </a:solidFill>
                  </a:tcPr>
                </a:tc>
              </a:tr>
              <a:tr h="171450">
                <a:tc>
                  <a:txBody>
                    <a:bodyPr/>
                    <a:lstStyle/>
                    <a:p>
                      <a:pPr algn="l">
                        <a:lnSpc>
                          <a:spcPts val="936"/>
                        </a:lnSpc>
                      </a:pPr>
                      <a:r>
                        <a:rPr sz="780" b="0">
                          <a:solidFill>
                            <a:srgbClr val="030A17"/>
                          </a:solidFill>
                          <a:latin typeface="Plus Jakarta Sans SemiBold"/>
                          <a:cs typeface="Plus Jakarta Sans SemiBold"/>
                        </a:rPr>
                        <a:t>2025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36,575,436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3,752,466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501,206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259,027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760,234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37,335,669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8E2115"/>
                          </a:solidFill>
                          <a:latin typeface="Plus Jakarta Sans"/>
                          <a:cs typeface="Plus Jakarta Sans"/>
                        </a:rPr>
                        <a:t>2.04%</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6C3BC"/>
                    </a:solidFill>
                  </a:tcPr>
                </a:tc>
              </a:tr>
              <a:tr h="171450">
                <a:tc>
                  <a:txBody>
                    <a:bodyPr/>
                    <a:lstStyle/>
                    <a:p>
                      <a:pPr algn="l">
                        <a:lnSpc>
                          <a:spcPts val="936"/>
                        </a:lnSpc>
                      </a:pPr>
                      <a:r>
                        <a:rPr sz="780" b="0">
                          <a:solidFill>
                            <a:srgbClr val="030A17"/>
                          </a:solidFill>
                          <a:latin typeface="Plus Jakarta Sans SemiBold"/>
                          <a:cs typeface="Plus Jakarta Sans SemiBold"/>
                        </a:rPr>
                        <a:t>2026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21,746,883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1,615,395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649,158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C1291C"/>
                          </a:solidFill>
                          <a:latin typeface="Plus Jakarta Sans Medium"/>
                          <a:cs typeface="Plus Jakarta Sans Medium"/>
                        </a:rPr>
                        <a:t>(248,135)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401,024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22,147,907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8E2115"/>
                          </a:solidFill>
                          <a:latin typeface="Plus Jakarta Sans"/>
                          <a:cs typeface="Plus Jakarta Sans"/>
                        </a:rPr>
                        <a:t>1.81%</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6C3BC"/>
                    </a:solidFill>
                  </a:tcPr>
                </a:tc>
              </a:tr>
              <a:tr h="171450">
                <a:tc>
                  <a:txBody>
                    <a:bodyPr/>
                    <a:lstStyle/>
                    <a:p>
                      <a:pPr algn="l">
                        <a:lnSpc>
                          <a:spcPts val="936"/>
                        </a:lnSpc>
                      </a:pPr>
                      <a:r>
                        <a:rPr sz="780" b="0">
                          <a:solidFill>
                            <a:srgbClr val="030A17"/>
                          </a:solidFill>
                          <a:latin typeface="Plus Jakarta Sans ExtraBold"/>
                          <a:cs typeface="Plus Jakarta Sans ExtraBold"/>
                        </a:rPr>
                        <a:t>Life to Date</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126,958,669</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8,044,979</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1,837,695</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C1291C"/>
                          </a:solidFill>
                          <a:latin typeface="Plus Jakarta Sans ExtraBold"/>
                          <a:cs typeface="Plus Jakarta Sans ExtraBold"/>
                        </a:rPr>
                        <a:t>(44,613)</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1,793,082</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128,751,751</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1.39%</a:t>
                      </a:r>
                      <a:endParaRPr sz="780" lang="en-US"/>
                    </a:p>
                  </a:txBody>
                  <a:tcPr marL="123825" marR="123825" marT="0" marB="0" anchor="ctr">
                    <a:lnL w="0" cap="flat" cmpd="sng" algn="ctr">
                      <a:noFill/>
                    </a:lnL>
                    <a:lnR w="0" cap="flat" cmpd="sng" algn="ctr">
                      <a:noFill/>
                    </a:lnR>
                    <a:lnT w="0" cap="flat" cmpd="sng" algn="ctr">
                      <a:noFill/>
                    </a:lnT>
                    <a:lnB w="0" cap="flat" cmpd="sng" algn="ctr">
                      <a:noFill/>
                    </a:lnB>
                    <a:solidFill>
                      <a:srgbClr val="F1F6FF"/>
                    </a:solidFill>
                  </a:tcPr>
                </a:tc>
              </a:tr>
            </a:tbl>
          </a:graphicData>
        </a:graphic>
      </p:graphicFrame>
      <p:sp>
        <p:nvSpPr>
          <p:cNvPr id="8" name="TextBox 7"/>
          <p:cNvSpPr txBox="1"/>
          <p:nvPr/>
        </p:nvSpPr>
        <p:spPr>
          <a:xfrm>
            <a:off x="495300" y="2971800"/>
            <a:ext cx="11201400" cy="161925"/>
          </a:xfrm>
          <a:prstGeom prst="rect">
            <a:avLst/>
          </a:prstGeom>
          <a:noFill/>
        </p:spPr>
        <p:txBody>
          <a:bodyPr wrap="square" lIns="0" rIns="0" tIns="0" bIns="0" anchor="t">
            <a:spAutoFit/>
          </a:bodyPr>
          <a:lstStyle/>
          <a:p>
            <a:pPr algn="l"/>
            <a:r>
              <a:rPr sz="862" b="0">
                <a:solidFill>
                  <a:srgbClr val="0E2A44"/>
                </a:solidFill>
                <a:latin typeface="Plus Jakarta Sans ExtraBold"/>
                <a:cs typeface="Plus Jakarta Sans ExtraBold"/>
              </a:rPr>
              <a:t>Monthly Breakout</a:t>
            </a:r>
            <a:endParaRPr sz="862" lang="en-US"/>
          </a:p>
        </p:txBody>
      </p:sp>
      <p:sp>
        <p:nvSpPr>
          <p:cNvPr id="9" name="Rounded Rectangle 8"/>
          <p:cNvSpPr/>
          <p:nvPr/>
        </p:nvSpPr>
        <p:spPr>
          <a:xfrm>
            <a:off x="495300" y="3190875"/>
            <a:ext cx="11201400" cy="2476500"/>
          </a:xfrm>
          <a:prstGeom prst="roundRect">
            <a:avLst>
              <a:gd name="adj" fmla="val 3076"/>
            </a:avLst>
          </a:prstGeom>
          <a:solidFill>
            <a:srgbClr val="FFFFFF"/>
          </a:solidFill>
          <a:ln w="9525">
            <a:solidFill>
              <a:srgbClr val="E9E9E9"/>
            </a:solidFill>
          </a:ln>
          <a:effectLst>
            <a:outerShdw blurRad="95250" dist="28575" dir="5400000" algn="t" rotWithShape="0">
              <a:srgbClr val="001A4A">
                <a:alpha val="4000"/>
              </a:srgbClr>
            </a:outerShdw>
          </a:effectLst>
        </p:spPr>
        <p:txBody>
          <a:bodyPr rtlCol="0" anchor="ctr"/>
          <a:lstStyle/>
          <a:p/>
        </p:txBody>
      </p:sp>
      <p:graphicFrame>
        <p:nvGraphicFramePr>
          <p:cNvPr id="10" name="Table 9"/>
          <p:cNvGraphicFramePr>
            <a:graphicFrameLocks noGrp="1"/>
          </p:cNvGraphicFramePr>
          <p:nvPr/>
        </p:nvGraphicFramePr>
        <p:xfrm>
          <a:off x="504825" y="3200400"/>
          <a:ext cx="11182350" cy="2457450"/>
        </p:xfrm>
        <a:graphic>
          <a:graphicData uri="http://schemas.openxmlformats.org/drawingml/2006/table">
            <a:tbl>
              <a:tblPr firstRow="0" bandRow="0" firstCol="0" lastRow="0" lastCol="0" bandCol="0">
                <a:tableStyleId>{5940675A-B579-460E-94D1-54222C63F5DA}</a:tableStyleId>
              </a:tblPr>
              <a:tblGrid>
                <a:gridCol w="1063982"/>
                <a:gridCol w="1758265"/>
                <a:gridCol w="1487509"/>
                <a:gridCol w="1326328"/>
                <a:gridCol w="1513033"/>
                <a:gridCol w="1137503"/>
                <a:gridCol w="1249756"/>
                <a:gridCol w="1645974"/>
              </a:tblGrid>
              <a:tr h="228600">
                <a:tc>
                  <a:txBody>
                    <a:bodyPr/>
                    <a:lstStyle/>
                    <a:p>
                      <a:pPr algn="l">
                        <a:lnSpc>
                          <a:spcPts val="846"/>
                        </a:lnSpc>
                      </a:pPr>
                      <a:r>
                        <a:rPr sz="705" b="1">
                          <a:solidFill>
                            <a:srgbClr val="6B7178"/>
                          </a:solidFill>
                          <a:latin typeface="Plus Jakarta Sans"/>
                          <a:cs typeface="Plus Jakarta Sans"/>
                        </a:rPr>
                        <a:t>Year</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Net Revenue As Corrected</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Bad Debt Allowance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Actual Write offs</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Change in Allowance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Total Impact</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Gross Revenue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c>
                  <a:txBody>
                    <a:bodyPr/>
                    <a:lstStyle/>
                    <a:p>
                      <a:pPr algn="r">
                        <a:lnSpc>
                          <a:spcPts val="846"/>
                        </a:lnSpc>
                      </a:pPr>
                      <a:r>
                        <a:rPr sz="705" b="1">
                          <a:solidFill>
                            <a:srgbClr val="6B7178"/>
                          </a:solidFill>
                          <a:latin typeface="Plus Jakarta Sans"/>
                          <a:cs typeface="Plus Jakarta Sans"/>
                        </a:rPr>
                        <a:t>Impact as % of Revenue</a:t>
                      </a:r>
                      <a:endParaRPr sz="705"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8F8F8"/>
                    </a:solidFill>
                  </a:tcPr>
                </a:tc>
              </a:tr>
              <a:tr h="171450">
                <a:tc>
                  <a:txBody>
                    <a:bodyPr/>
                    <a:lstStyle/>
                    <a:p>
                      <a:pPr algn="l">
                        <a:lnSpc>
                          <a:spcPts val="936"/>
                        </a:lnSpc>
                      </a:pPr>
                      <a:r>
                        <a:rPr sz="780" b="0">
                          <a:solidFill>
                            <a:srgbClr val="030A17"/>
                          </a:solidFill>
                          <a:latin typeface="Plus Jakarta Sans SemiBold"/>
                          <a:cs typeface="Plus Jakarta Sans SemiBold"/>
                        </a:rPr>
                        <a:t>Aug-25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3,021,773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344,824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48,438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44,721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93,159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3,114,932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8E2115"/>
                          </a:solidFill>
                          <a:latin typeface="Plus Jakarta Sans"/>
                          <a:cs typeface="Plus Jakarta Sans"/>
                        </a:rPr>
                        <a:t>2.99%</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6C3BC"/>
                    </a:solidFill>
                  </a:tcPr>
                </a:tc>
              </a:tr>
              <a:tr h="171450">
                <a:tc>
                  <a:txBody>
                    <a:bodyPr/>
                    <a:lstStyle/>
                    <a:p>
                      <a:pPr algn="l">
                        <a:lnSpc>
                          <a:spcPts val="936"/>
                        </a:lnSpc>
                      </a:pPr>
                      <a:r>
                        <a:rPr sz="780" b="0">
                          <a:solidFill>
                            <a:srgbClr val="030A17"/>
                          </a:solidFill>
                          <a:latin typeface="Plus Jakarta Sans SemiBold"/>
                          <a:cs typeface="Plus Jakarta Sans SemiBold"/>
                        </a:rPr>
                        <a:t>Sep-25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3,085,912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372,123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12,078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27,298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39,377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3,125,289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0F5218"/>
                          </a:solidFill>
                          <a:latin typeface="Plus Jakarta Sans"/>
                          <a:cs typeface="Plus Jakarta Sans"/>
                        </a:rPr>
                        <a:t>1.26%</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AEE0B7"/>
                    </a:solidFill>
                  </a:tcPr>
                </a:tc>
              </a:tr>
              <a:tr h="171450">
                <a:tc>
                  <a:txBody>
                    <a:bodyPr/>
                    <a:lstStyle/>
                    <a:p>
                      <a:pPr algn="l">
                        <a:lnSpc>
                          <a:spcPts val="936"/>
                        </a:lnSpc>
                      </a:pPr>
                      <a:r>
                        <a:rPr sz="780" b="0">
                          <a:solidFill>
                            <a:srgbClr val="030A17"/>
                          </a:solidFill>
                          <a:latin typeface="Plus Jakarta Sans SemiBold"/>
                          <a:cs typeface="Plus Jakarta Sans SemiBold"/>
                        </a:rPr>
                        <a:t>Oct-25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3,062,268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462,194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90,071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90,097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3,152,365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8E2115"/>
                          </a:solidFill>
                          <a:latin typeface="Plus Jakarta Sans"/>
                          <a:cs typeface="Plus Jakarta Sans"/>
                        </a:rPr>
                        <a:t>2.86%</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6C3BC"/>
                    </a:solidFill>
                  </a:tcPr>
                </a:tc>
              </a:tr>
              <a:tr h="171450">
                <a:tc>
                  <a:txBody>
                    <a:bodyPr/>
                    <a:lstStyle/>
                    <a:p>
                      <a:pPr algn="l">
                        <a:lnSpc>
                          <a:spcPts val="936"/>
                        </a:lnSpc>
                      </a:pPr>
                      <a:r>
                        <a:rPr sz="780" b="0">
                          <a:solidFill>
                            <a:srgbClr val="030A17"/>
                          </a:solidFill>
                          <a:latin typeface="Plus Jakarta Sans SemiBold"/>
                          <a:cs typeface="Plus Jakarta Sans SemiBold"/>
                        </a:rPr>
                        <a:t>Nov-25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3,134,782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521,472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180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59,278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59,458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3,194,240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256B2C"/>
                          </a:solidFill>
                          <a:latin typeface="Plus Jakarta Sans"/>
                          <a:cs typeface="Plus Jakarta Sans"/>
                        </a:rPr>
                        <a:t>1.86%</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D4EED9"/>
                    </a:solidFill>
                  </a:tcPr>
                </a:tc>
              </a:tr>
              <a:tr h="171450">
                <a:tc>
                  <a:txBody>
                    <a:bodyPr/>
                    <a:lstStyle/>
                    <a:p>
                      <a:pPr algn="l">
                        <a:lnSpc>
                          <a:spcPts val="936"/>
                        </a:lnSpc>
                      </a:pPr>
                      <a:r>
                        <a:rPr sz="780" b="0">
                          <a:solidFill>
                            <a:srgbClr val="030A17"/>
                          </a:solidFill>
                          <a:latin typeface="Plus Jakarta Sans SemiBold"/>
                          <a:cs typeface="Plus Jakarta Sans SemiBold"/>
                        </a:rPr>
                        <a:t>Dec-25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3,124,257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413,622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166,896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C1291C"/>
                          </a:solidFill>
                          <a:latin typeface="Plus Jakarta Sans Medium"/>
                          <a:cs typeface="Plus Jakarta Sans Medium"/>
                        </a:rPr>
                        <a:t>(107,850)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59,045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3,183,302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256B2C"/>
                          </a:solidFill>
                          <a:latin typeface="Plus Jakarta Sans"/>
                          <a:cs typeface="Plus Jakarta Sans"/>
                        </a:rPr>
                        <a:t>1.85%</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D4EED9"/>
                    </a:solidFill>
                  </a:tcPr>
                </a:tc>
              </a:tr>
              <a:tr h="171450">
                <a:tc>
                  <a:txBody>
                    <a:bodyPr/>
                    <a:lstStyle/>
                    <a:p>
                      <a:pPr algn="l">
                        <a:lnSpc>
                          <a:spcPts val="936"/>
                        </a:lnSpc>
                      </a:pPr>
                      <a:r>
                        <a:rPr sz="780" b="0">
                          <a:solidFill>
                            <a:srgbClr val="030A17"/>
                          </a:solidFill>
                          <a:latin typeface="Plus Jakarta Sans SemiBold"/>
                          <a:cs typeface="Plus Jakarta Sans SemiBold"/>
                        </a:rPr>
                        <a:t>Jan-26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3,132,551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447,094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38,902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33,472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72,374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3,204,925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8A5A12"/>
                          </a:solidFill>
                          <a:latin typeface="Plus Jakarta Sans"/>
                          <a:cs typeface="Plus Jakarta Sans"/>
                        </a:rPr>
                        <a:t>2.26%</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BDCC2"/>
                    </a:solidFill>
                  </a:tcPr>
                </a:tc>
              </a:tr>
              <a:tr h="171450">
                <a:tc>
                  <a:txBody>
                    <a:bodyPr/>
                    <a:lstStyle/>
                    <a:p>
                      <a:pPr algn="l">
                        <a:lnSpc>
                          <a:spcPts val="936"/>
                        </a:lnSpc>
                      </a:pPr>
                      <a:r>
                        <a:rPr sz="780" b="0">
                          <a:solidFill>
                            <a:srgbClr val="030A17"/>
                          </a:solidFill>
                          <a:latin typeface="Plus Jakarta Sans SemiBold"/>
                          <a:cs typeface="Plus Jakarta Sans SemiBold"/>
                        </a:rPr>
                        <a:t>Feb-26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3,092,825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267,301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216,348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C1291C"/>
                          </a:solidFill>
                          <a:latin typeface="Plus Jakarta Sans Medium"/>
                          <a:cs typeface="Plus Jakarta Sans Medium"/>
                        </a:rPr>
                        <a:t>(179,793)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36,555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3,129,380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0F5218"/>
                          </a:solidFill>
                          <a:latin typeface="Plus Jakarta Sans"/>
                          <a:cs typeface="Plus Jakarta Sans"/>
                        </a:rPr>
                        <a:t>1.17%</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AEE0B7"/>
                    </a:solidFill>
                  </a:tcPr>
                </a:tc>
              </a:tr>
              <a:tr h="171450">
                <a:tc>
                  <a:txBody>
                    <a:bodyPr/>
                    <a:lstStyle/>
                    <a:p>
                      <a:pPr algn="l">
                        <a:lnSpc>
                          <a:spcPts val="936"/>
                        </a:lnSpc>
                      </a:pPr>
                      <a:r>
                        <a:rPr sz="780" b="0">
                          <a:solidFill>
                            <a:srgbClr val="030A17"/>
                          </a:solidFill>
                          <a:latin typeface="Plus Jakarta Sans SemiBold"/>
                          <a:cs typeface="Plus Jakarta Sans SemiBold"/>
                        </a:rPr>
                        <a:t>Mar-26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3,100,643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278,154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24,396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10,853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35,250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3,135,893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0F5218"/>
                          </a:solidFill>
                          <a:latin typeface="Plus Jakarta Sans"/>
                          <a:cs typeface="Plus Jakarta Sans"/>
                        </a:rPr>
                        <a:t>1.12%</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AEE0B7"/>
                    </a:solidFill>
                  </a:tcPr>
                </a:tc>
              </a:tr>
              <a:tr h="171450">
                <a:tc>
                  <a:txBody>
                    <a:bodyPr/>
                    <a:lstStyle/>
                    <a:p>
                      <a:pPr algn="l">
                        <a:lnSpc>
                          <a:spcPts val="936"/>
                        </a:lnSpc>
                      </a:pPr>
                      <a:r>
                        <a:rPr sz="780" b="0">
                          <a:solidFill>
                            <a:srgbClr val="030A17"/>
                          </a:solidFill>
                          <a:latin typeface="Plus Jakarta Sans SemiBold"/>
                          <a:cs typeface="Plus Jakarta Sans SemiBold"/>
                        </a:rPr>
                        <a:t>Apr-26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3,120,997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199,685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144,497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C1291C"/>
                          </a:solidFill>
                          <a:latin typeface="Plus Jakarta Sans Medium"/>
                          <a:cs typeface="Plus Jakarta Sans Medium"/>
                        </a:rPr>
                        <a:t>(78,470)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66,028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3,187,025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7A621F"/>
                          </a:solidFill>
                          <a:latin typeface="Plus Jakarta Sans"/>
                          <a:cs typeface="Plus Jakarta Sans"/>
                        </a:rPr>
                        <a:t>2.07%</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DF0D2"/>
                    </a:solidFill>
                  </a:tcPr>
                </a:tc>
              </a:tr>
              <a:tr h="171450">
                <a:tc>
                  <a:txBody>
                    <a:bodyPr/>
                    <a:lstStyle/>
                    <a:p>
                      <a:pPr algn="l">
                        <a:lnSpc>
                          <a:spcPts val="936"/>
                        </a:lnSpc>
                      </a:pPr>
                      <a:r>
                        <a:rPr sz="780" b="0">
                          <a:solidFill>
                            <a:srgbClr val="030A17"/>
                          </a:solidFill>
                          <a:latin typeface="Plus Jakarta Sans SemiBold"/>
                          <a:cs typeface="Plus Jakarta Sans SemiBold"/>
                        </a:rPr>
                        <a:t>May-26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3,115,346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98,543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151,866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C1291C"/>
                          </a:solidFill>
                          <a:latin typeface="Plus Jakarta Sans Medium"/>
                          <a:cs typeface="Plus Jakarta Sans Medium"/>
                        </a:rPr>
                        <a:t>(101,142)</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50,724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3,166,070</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256B2C"/>
                          </a:solidFill>
                          <a:latin typeface="Plus Jakarta Sans"/>
                          <a:cs typeface="Plus Jakarta Sans"/>
                        </a:rPr>
                        <a:t>1.60%</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D4EED9"/>
                    </a:solidFill>
                  </a:tcPr>
                </a:tc>
              </a:tr>
              <a:tr h="171450">
                <a:tc>
                  <a:txBody>
                    <a:bodyPr/>
                    <a:lstStyle/>
                    <a:p>
                      <a:pPr algn="l">
                        <a:lnSpc>
                          <a:spcPts val="936"/>
                        </a:lnSpc>
                      </a:pPr>
                      <a:r>
                        <a:rPr sz="780" b="0">
                          <a:solidFill>
                            <a:srgbClr val="030A17"/>
                          </a:solidFill>
                          <a:latin typeface="Plus Jakarta Sans SemiBold"/>
                          <a:cs typeface="Plus Jakarta Sans SemiBold"/>
                        </a:rPr>
                        <a:t>June-26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3,097,296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159,131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6,296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60,588</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66,885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3,164,181</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7A621F"/>
                          </a:solidFill>
                          <a:latin typeface="Plus Jakarta Sans"/>
                          <a:cs typeface="Plus Jakarta Sans"/>
                        </a:rPr>
                        <a:t>2.11%</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DF0D2"/>
                    </a:solidFill>
                  </a:tcPr>
                </a:tc>
              </a:tr>
              <a:tr h="171450">
                <a:tc>
                  <a:txBody>
                    <a:bodyPr/>
                    <a:lstStyle/>
                    <a:p>
                      <a:pPr algn="l">
                        <a:lnSpc>
                          <a:spcPts val="936"/>
                        </a:lnSpc>
                      </a:pPr>
                      <a:r>
                        <a:rPr sz="780" b="0">
                          <a:solidFill>
                            <a:srgbClr val="030A17"/>
                          </a:solidFill>
                          <a:latin typeface="Plus Jakarta Sans SemiBold"/>
                          <a:cs typeface="Plus Jakarta Sans SemiBold"/>
                        </a:rPr>
                        <a:t>July-26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CFCFD"/>
                    </a:solidFill>
                  </a:tcPr>
                </a:tc>
                <a:tc>
                  <a:txBody>
                    <a:bodyPr/>
                    <a:lstStyle/>
                    <a:p>
                      <a:pPr algn="r">
                        <a:lnSpc>
                          <a:spcPts val="936"/>
                        </a:lnSpc>
                      </a:pPr>
                      <a:r>
                        <a:rPr sz="780" b="0">
                          <a:solidFill>
                            <a:srgbClr val="030A17"/>
                          </a:solidFill>
                          <a:latin typeface="Plus Jakarta Sans Medium"/>
                          <a:cs typeface="Plus Jakarta Sans Medium"/>
                        </a:rPr>
                        <a:t>3,087,225</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165,487</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66,853</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6,356</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73,209</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0">
                          <a:solidFill>
                            <a:srgbClr val="030A17"/>
                          </a:solidFill>
                          <a:latin typeface="Plus Jakarta Sans Medium"/>
                          <a:cs typeface="Plus Jakarta Sans Medium"/>
                        </a:rPr>
                        <a:t>3,160,434</a:t>
                      </a:r>
                      <a:endParaRPr sz="780" lang="en-US"/>
                    </a:p>
                  </a:txBody>
                  <a:tcPr marL="123825" marR="123825" marT="0" marB="0" anchor="ctr">
                    <a:lnL w="0" cap="flat" cmpd="sng" algn="ctr">
                      <a:noFill/>
                    </a:lnL>
                    <a:lnR w="9525" cap="flat" cmpd="sng" algn="ctr">
                      <a:solidFill>
                        <a:srgbClr val="EDEFF2"/>
                      </a:solidFill>
                    </a:lnR>
                    <a:lnT w="0" cap="flat" cmpd="sng" algn="ctr">
                      <a:noFill/>
                    </a:lnT>
                    <a:lnB w="9525" cap="flat" cmpd="sng" algn="ctr">
                      <a:solidFill>
                        <a:srgbClr val="EDEFF2"/>
                      </a:solidFill>
                    </a:lnB>
                    <a:solidFill>
                      <a:srgbClr val="FFFFFF"/>
                    </a:solidFill>
                  </a:tcPr>
                </a:tc>
                <a:tc>
                  <a:txBody>
                    <a:bodyPr/>
                    <a:lstStyle/>
                    <a:p>
                      <a:pPr algn="r">
                        <a:lnSpc>
                          <a:spcPts val="936"/>
                        </a:lnSpc>
                      </a:pPr>
                      <a:r>
                        <a:rPr sz="780" b="1">
                          <a:solidFill>
                            <a:srgbClr val="8A5A12"/>
                          </a:solidFill>
                          <a:latin typeface="Plus Jakarta Sans"/>
                          <a:cs typeface="Plus Jakarta Sans"/>
                        </a:rPr>
                        <a:t>2.32%</a:t>
                      </a:r>
                      <a:endParaRPr sz="780" lang="en-US"/>
                    </a:p>
                  </a:txBody>
                  <a:tcPr marL="123825" marR="123825" marT="0" marB="0" anchor="ctr">
                    <a:lnL w="0" cap="flat" cmpd="sng" algn="ctr">
                      <a:noFill/>
                    </a:lnL>
                    <a:lnR w="0" cap="flat" cmpd="sng" algn="ctr">
                      <a:noFill/>
                    </a:lnR>
                    <a:lnT w="0" cap="flat" cmpd="sng" algn="ctr">
                      <a:noFill/>
                    </a:lnT>
                    <a:lnB w="9525" cap="flat" cmpd="sng" algn="ctr">
                      <a:solidFill>
                        <a:srgbClr val="EDEFF2"/>
                      </a:solidFill>
                    </a:lnB>
                    <a:solidFill>
                      <a:srgbClr val="FBDCC2"/>
                    </a:solidFill>
                  </a:tcPr>
                </a:tc>
              </a:tr>
              <a:tr h="171450">
                <a:tc>
                  <a:txBody>
                    <a:bodyPr/>
                    <a:lstStyle/>
                    <a:p>
                      <a:pPr algn="l">
                        <a:lnSpc>
                          <a:spcPts val="936"/>
                        </a:lnSpc>
                      </a:pPr>
                      <a:r>
                        <a:rPr sz="780" b="0">
                          <a:solidFill>
                            <a:srgbClr val="030A17"/>
                          </a:solidFill>
                          <a:latin typeface="Plus Jakarta Sans ExtraBold"/>
                          <a:cs typeface="Plus Jakarta Sans ExtraBold"/>
                        </a:rPr>
                        <a:t>Aug-26</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E4EEFF"/>
                    </a:solidFill>
                  </a:tcPr>
                </a:tc>
                <a:tc>
                  <a:txBody>
                    <a:bodyPr/>
                    <a:lstStyle/>
                    <a:p>
                      <a:pPr algn="r">
                        <a:lnSpc>
                          <a:spcPts val="936"/>
                        </a:lnSpc>
                      </a:pPr>
                      <a:r>
                        <a:rPr sz="780" b="0">
                          <a:solidFill>
                            <a:srgbClr val="030A17"/>
                          </a:solidFill>
                          <a:latin typeface="Plus Jakarta Sans ExtraBold"/>
                          <a:cs typeface="Plus Jakarta Sans ExtraBold"/>
                        </a:rPr>
                        <a:t>3,097,128</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155,766</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75,737</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C1291C"/>
                          </a:solidFill>
                          <a:latin typeface="Plus Jakarta Sans ExtraBold"/>
                          <a:cs typeface="Plus Jakarta Sans ExtraBold"/>
                        </a:rPr>
                        <a:t>(9,721)</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66,015</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0">
                          <a:solidFill>
                            <a:srgbClr val="030A17"/>
                          </a:solidFill>
                          <a:latin typeface="Plus Jakarta Sans ExtraBold"/>
                          <a:cs typeface="Plus Jakarta Sans ExtraBold"/>
                        </a:rPr>
                        <a:t>3,163,143</a:t>
                      </a:r>
                      <a:endParaRPr sz="780" lang="en-US"/>
                    </a:p>
                  </a:txBody>
                  <a:tcPr marL="123825" marR="123825" marT="0" marB="0" anchor="ctr">
                    <a:lnL w="0" cap="flat" cmpd="sng" algn="ctr">
                      <a:noFill/>
                    </a:lnL>
                    <a:lnR w="9525" cap="flat" cmpd="sng" algn="ctr">
                      <a:solidFill>
                        <a:srgbClr val="EDEFF2"/>
                      </a:solidFill>
                    </a:lnR>
                    <a:lnT w="0" cap="flat" cmpd="sng" algn="ctr">
                      <a:noFill/>
                    </a:lnT>
                    <a:lnB w="0" cap="flat" cmpd="sng" algn="ctr">
                      <a:noFill/>
                    </a:lnB>
                    <a:solidFill>
                      <a:srgbClr val="F1F6FF"/>
                    </a:solidFill>
                  </a:tcPr>
                </a:tc>
                <a:tc>
                  <a:txBody>
                    <a:bodyPr/>
                    <a:lstStyle/>
                    <a:p>
                      <a:pPr algn="r">
                        <a:lnSpc>
                          <a:spcPts val="936"/>
                        </a:lnSpc>
                      </a:pPr>
                      <a:r>
                        <a:rPr sz="780" b="1">
                          <a:solidFill>
                            <a:srgbClr val="7A621F"/>
                          </a:solidFill>
                          <a:latin typeface="Plus Jakarta Sans"/>
                          <a:cs typeface="Plus Jakarta Sans"/>
                        </a:rPr>
                        <a:t>2.09%</a:t>
                      </a:r>
                      <a:endParaRPr sz="780" lang="en-US"/>
                    </a:p>
                  </a:txBody>
                  <a:tcPr marL="123825" marR="123825" marT="0" marB="0" anchor="ctr">
                    <a:lnL w="0" cap="flat" cmpd="sng" algn="ctr">
                      <a:noFill/>
                    </a:lnL>
                    <a:lnR w="0" cap="flat" cmpd="sng" algn="ctr">
                      <a:noFill/>
                    </a:lnR>
                    <a:lnT w="0" cap="flat" cmpd="sng" algn="ctr">
                      <a:noFill/>
                    </a:lnT>
                    <a:lnB w="0" cap="flat" cmpd="sng" algn="ctr">
                      <a:noFill/>
                    </a:lnB>
                    <a:solidFill>
                      <a:srgbClr val="FDF0D2"/>
                    </a:solidFill>
                  </a:tcPr>
                </a:tc>
              </a:tr>
            </a:tbl>
          </a:graphicData>
        </a:graphic>
      </p:graphicFrame>
      <p:sp>
        <p:nvSpPr>
          <p:cNvPr id="11" name="Oval 10"/>
          <p:cNvSpPr/>
          <p:nvPr/>
        </p:nvSpPr>
        <p:spPr>
          <a:xfrm>
            <a:off x="514350" y="603408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700" y="597217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Write offs saw an uptick MoM, but still lower than February’s high</a:t>
            </a:r>
            <a:endParaRPr sz="900" lang="en-US"/>
          </a:p>
        </p:txBody>
      </p:sp>
      <p:sp>
        <p:nvSpPr>
          <p:cNvPr id="13" name="Oval 12"/>
          <p:cNvSpPr/>
          <p:nvPr/>
        </p:nvSpPr>
        <p:spPr>
          <a:xfrm>
            <a:off x="514350" y="622458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700" y="616267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The total allowance saw a 6% drop MoM</a:t>
            </a:r>
            <a:endParaRPr sz="900" lang="en-US"/>
          </a:p>
        </p:txBody>
      </p:sp>
      <p:sp>
        <p:nvSpPr>
          <p:cNvPr id="15" name="Oval 14"/>
          <p:cNvSpPr/>
          <p:nvPr/>
        </p:nvSpPr>
        <p:spPr>
          <a:xfrm>
            <a:off x="6276975" y="6034088"/>
            <a:ext cx="38100" cy="38100"/>
          </a:xfrm>
          <a:prstGeom prst="ellipse">
            <a:avLst/>
          </a:prstGeom>
          <a:solidFill>
            <a:srgbClr val="176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0325" y="5972175"/>
            <a:ext cx="5286375" cy="161925"/>
          </a:xfrm>
          <a:prstGeom prst="rect">
            <a:avLst/>
          </a:prstGeom>
          <a:noFill/>
        </p:spPr>
        <p:txBody>
          <a:bodyPr wrap="square" lIns="0" rIns="0" tIns="0" bIns="0" anchor="t">
            <a:spAutoFit/>
          </a:bodyPr>
          <a:lstStyle/>
          <a:p>
            <a:pPr algn="l">
              <a:lnSpc>
                <a:spcPts val="1275"/>
              </a:lnSpc>
            </a:pPr>
            <a:r>
              <a:rPr sz="900" b="0">
                <a:solidFill>
                  <a:srgbClr val="555555"/>
                </a:solidFill>
                <a:latin typeface="Plus Jakarta Sans Medium"/>
                <a:cs typeface="Plus Jakarta Sans Medium"/>
              </a:rPr>
              <a:t>Team is actively working to tow/auction past due tenants</a:t>
            </a:r>
            <a:endParaRPr sz="900" lang="en-US"/>
          </a:p>
        </p:txBody>
      </p:sp>
      <p:sp>
        <p:nvSpPr>
          <p:cNvPr id="17" name="TextBox 16"/>
          <p:cNvSpPr txBox="1"/>
          <p:nvPr/>
        </p:nvSpPr>
        <p:spPr>
          <a:xfrm>
            <a:off x="495300" y="6572250"/>
            <a:ext cx="2857500" cy="133350"/>
          </a:xfrm>
          <a:prstGeom prst="rect">
            <a:avLst/>
          </a:prstGeom>
          <a:noFill/>
        </p:spPr>
        <p:txBody>
          <a:bodyPr wrap="square" lIns="0" rIns="0" tIns="0" bIns="0" anchor="t">
            <a:spAutoFit/>
          </a:bodyPr>
          <a:lstStyle/>
          <a:p>
            <a:pPr algn="l"/>
            <a:r>
              <a:rPr sz="750" b="0">
                <a:solidFill>
                  <a:srgbClr val="9AA1AA"/>
                </a:solidFill>
                <a:latin typeface="Plus Jakarta Sans Medium"/>
                <a:cs typeface="Plus Jakarta Sans Medium"/>
              </a:rPr>
              <a:t>© RecNation Storage 2026 All rights reserved</a:t>
            </a:r>
            <a:endParaRPr sz="750" lang="en-US"/>
          </a:p>
        </p:txBody>
      </p:sp>
      <p:sp>
        <p:nvSpPr>
          <p:cNvPr id="18" name="TextBox 17"/>
          <p:cNvSpPr txBox="1"/>
          <p:nvPr/>
        </p:nvSpPr>
        <p:spPr>
          <a:xfrm>
            <a:off x="11410950" y="6572250"/>
            <a:ext cx="285750" cy="133350"/>
          </a:xfrm>
          <a:prstGeom prst="rect">
            <a:avLst/>
          </a:prstGeom>
          <a:noFill/>
        </p:spPr>
        <p:txBody>
          <a:bodyPr wrap="square" lIns="0" rIns="0" tIns="0" bIns="0" anchor="t">
            <a:spAutoFit/>
          </a:bodyPr>
          <a:lstStyle/>
          <a:p>
            <a:pPr algn="r"/>
            <a:r>
              <a:rPr sz="712" b="1">
                <a:solidFill>
                  <a:srgbClr val="6B7178"/>
                </a:solidFill>
                <a:latin typeface="Plus Jakarta Sans"/>
                <a:cs typeface="Plus Jakarta Sans"/>
              </a:rPr>
              <a:t>5</a:t>
            </a:r>
            <a:endParaRPr sz="712"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